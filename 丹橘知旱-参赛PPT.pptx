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225296"/>
            <a:ext cx="603504" cy="548640"/>
          </a:xfrm>
          <a:prstGeom prst="ellipse">
            <a:avLst/>
          </a:prstGeom>
          <a:solidFill>
            <a:srgbClr val="F08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61288" y="1051560"/>
            <a:ext cx="173736" cy="173736"/>
          </a:xfrm>
          <a:prstGeom prst="ellipse">
            <a:avLst/>
          </a:prstGeom>
          <a:solidFill>
            <a:srgbClr val="268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4407408"/>
            <a:ext cx="1371600" cy="50292"/>
          </a:xfrm>
          <a:prstGeom prst="rect">
            <a:avLst/>
          </a:prstGeom>
          <a:solidFill>
            <a:srgbClr val="F08A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FFFFFF"/>
                </a:solidFill>
              </a:rPr>
              <a:t>丹橘知旱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089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>
                <a:solidFill>
                  <a:srgbClr val="FFFFFF"/>
                </a:solidFill>
              </a:rPr>
              <a:t>丹江口库区柑橘园气候决策助手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886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FE6D8"/>
                </a:solidFill>
              </a:rPr>
              <a:t>One Place · One Climate Problem · One AI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7607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FE6D8"/>
                </a:solidFill>
              </a:rPr>
              <a:t>AI4Climate 全球青年气候解决方案挑战赛 · 团队 沧浪舟</a:t>
            </a:r>
          </a:p>
          <a:p>
            <a:r>
              <a:rPr sz="1400" b="0">
                <a:solidFill>
                  <a:srgbClr val="CFE6D8"/>
                </a:solidFill>
              </a:rPr>
              <a:t>开放选题 / 气候适应与韧性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真实气候问题：极端旱涝下的库区柑橘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00" b="0">
                <a:solidFill>
                  <a:srgbClr val="1F2D27"/>
                </a:solidFill>
              </a:rPr>
              <a:t>丹江口水库——南水北调中线核心水源区；库周 30 万亩柑橘、约 10 万果农。</a:t>
            </a:r>
          </a:p>
          <a:p>
            <a:r>
              <a:rPr sz="1900" b="0">
                <a:solidFill>
                  <a:srgbClr val="1F2D27"/>
                </a:solidFill>
              </a:rPr>
              <a:t>气候变化已让「靠天吃饭」的损失常态化：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9748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2022 年长江流域 1961 年来最强高温干旱：十堰竹山 44.6℃ 刷新湖北纪录；气象局首次派飞机在丹江口流域人工增雨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参考园块（凉水河镇）当年夏季 ≥35℃ 达 30 天、极端最高 40.9℃（ERA5-Land 复算）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605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文献记载（研究区为湖北武穴、非丹江口库区）：2008—2023 年 38 次气象灾害，</a:t>
            </a:r>
          </a:p>
          <a:p>
            <a:r>
              <a:rPr sz="1600" b="0">
                <a:solidFill>
                  <a:srgbClr val="1F2D27"/>
                </a:solidFill>
              </a:rPr>
              <a:t>     花期水分亏缺使落花率增加 32%-45%（DOI 10.12238/as.v8i8.3240）</a:t>
            </a:r>
          </a:p>
          <a:p>
            <a:r>
              <a:rPr sz="1600" b="0">
                <a:solidFill>
                  <a:srgbClr val="1F2D27"/>
                </a:solidFill>
              </a:rPr>
              <a:t>     ——只作为问题动机，不作为本工具的效果证据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035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2025 年汉江 64 年来最密集秋汛、7 次编号洪水——旱涝急转成为新常态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350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E5233"/>
                </a:solidFill>
              </a:rPr>
              <a:t>痛点：果农凭经验应对，缺少「我这块园 × 当前物候 × 未来几天」的决策提示，灾后补救远贵于灾前防范。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方案：从公开气象数据到可执行农事建议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公开气象数据</a:t>
            </a:r>
          </a:p>
          <a:p>
            <a:r>
              <a:rPr sz="1300">
                <a:solidFill>
                  <a:srgbClr val="1F2D27"/>
                </a:solidFill>
              </a:rPr>
              <a:t>Open-Meteo</a:t>
            </a:r>
            <a:br/>
            <a:r>
              <a:rPr sz="1300">
                <a:solidFill>
                  <a:srgbClr val="1F2D27"/>
                </a:solidFill>
              </a:rPr>
              <a:t>ERA5-Land 再分析</a:t>
            </a:r>
            <a:br/>
            <a:r>
              <a:rPr sz="1300">
                <a:solidFill>
                  <a:srgbClr val="1F2D27"/>
                </a:solidFill>
              </a:rPr>
              <a:t>+ ECMWF 预报</a:t>
            </a:r>
            <a:br/>
            <a:r>
              <a:rPr sz="1300">
                <a:solidFill>
                  <a:srgbClr val="1F2D27"/>
                </a:solidFill>
              </a:rPr>
              <a:t>（免密钥·浏览器直连）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291839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2043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物候期识别</a:t>
            </a:r>
          </a:p>
          <a:p>
            <a:r>
              <a:rPr sz="1300">
                <a:solidFill>
                  <a:srgbClr val="1F2D27"/>
                </a:solidFill>
              </a:rPr>
              <a:t>萌芽/开花/幼果</a:t>
            </a:r>
            <a:br/>
            <a:r>
              <a:rPr sz="1300">
                <a:solidFill>
                  <a:srgbClr val="1F2D27"/>
                </a:solidFill>
              </a:rPr>
              <a:t>膨大/成熟/越冬</a:t>
            </a:r>
            <a:br/>
            <a:r>
              <a:rPr sz="1300">
                <a:solidFill>
                  <a:srgbClr val="1F2D27"/>
                </a:solidFill>
              </a:rPr>
              <a:t>六期规则表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四类风险引擎</a:t>
            </a:r>
          </a:p>
          <a:p>
            <a:r>
              <a:rPr sz="1300">
                <a:solidFill>
                  <a:srgbClr val="1F2D27"/>
                </a:solidFill>
              </a:rPr>
              <a:t>高温热害 · 干旱</a:t>
            </a:r>
            <a:br/>
            <a:r>
              <a:rPr sz="1300">
                <a:solidFill>
                  <a:srgbClr val="1F2D27"/>
                </a:solidFill>
              </a:rPr>
              <a:t>花期低温 · 越冬冻害</a:t>
            </a:r>
            <a:br/>
            <a:r>
              <a:rPr sz="1300">
                <a:solidFill>
                  <a:srgbClr val="1F2D27"/>
                </a:solidFill>
              </a:rPr>
              <a:t>分级 + 触发依据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0" y="2999232"/>
            <a:ext cx="201168" cy="45720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281159" y="1828800"/>
            <a:ext cx="260604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900" b="1">
                <a:solidFill>
                  <a:srgbClr val="0E5233"/>
                </a:solidFill>
              </a:rPr>
              <a:t>农事建议</a:t>
            </a:r>
          </a:p>
          <a:p>
            <a:r>
              <a:rPr sz="1300">
                <a:solidFill>
                  <a:srgbClr val="1F2D27"/>
                </a:solidFill>
              </a:rPr>
              <a:t>风险 × 物候期</a:t>
            </a:r>
            <a:br/>
            <a:r>
              <a:rPr sz="1300">
                <a:solidFill>
                  <a:srgbClr val="1F2D27"/>
                </a:solidFill>
              </a:rPr>
              <a:t>动作清单</a:t>
            </a:r>
            <a:br/>
            <a:r>
              <a:rPr sz="1300">
                <a:solidFill>
                  <a:srgbClr val="1F2D27"/>
                </a:solidFill>
              </a:rPr>
              <a:t>标注规则来源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A7A4A"/>
                </a:solidFill>
              </a:rPr>
              <a:t>在线体验：https://pawnnwap.github.io/danju-zhihan/      代码开源：https://github.com/Pawnnwap/danju-zhihan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035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手机浏览器打开即用：点选园块（或输入自定坐标）→ 当前物候与四类风险看板 → 90 天风险日历 → 农事建议 → 历史回放 → 问答。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产品界面：真实截图（与在线 Demo 同版）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① 风险看板：当前物候期 + 四类风险等级与触发依据</a:t>
            </a:r>
          </a:p>
        </p:txBody>
      </p:sp>
      <p:pic>
        <p:nvPicPr>
          <p:cNvPr id="8" name="Picture 7" descr="rep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43984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② 历史回放：2022 年夏季热害过程逐日重放</a:t>
            </a:r>
          </a:p>
        </p:txBody>
      </p:sp>
      <p:pic>
        <p:nvPicPr>
          <p:cNvPr id="10" name="Picture 9" descr="calend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47888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③ 90 天风险日历（可导出 CSV，带 BOM，Excel 直开）</a:t>
            </a:r>
          </a:p>
        </p:txBody>
      </p:sp>
      <p:pic>
        <p:nvPicPr>
          <p:cNvPr id="12" name="Picture 11" descr="q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11480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0080" y="603504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④ 问答：未配 Key 时由内置规则问答兜底</a:t>
            </a:r>
          </a:p>
        </p:txBody>
      </p:sp>
      <p:pic>
        <p:nvPicPr>
          <p:cNvPr id="14" name="Picture 13" descr="advice-expo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43984" y="411480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4443984" y="603504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⑤ 农事建议与导出报告（可打印张贴给农技员）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47888" y="4114800"/>
            <a:ext cx="3310128" cy="1865376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700" b="1">
                <a:solidFill>
                  <a:srgbClr val="0E5233"/>
                </a:solidFill>
              </a:rPr>
              <a:t>手机浏览器打开即用</a:t>
            </a:r>
          </a:p>
          <a:p>
            <a:r>
              <a:rPr sz="1300">
                <a:solidFill>
                  <a:srgbClr val="1F2D27"/>
                </a:solidFill>
              </a:rPr>
              <a:t>·  无安装、无账号、无后端</a:t>
            </a:r>
          </a:p>
          <a:p>
            <a:r>
              <a:rPr sz="1300">
                <a:solidFill>
                  <a:srgbClr val="1F2D27"/>
                </a:solidFill>
              </a:rPr>
              <a:t>·  园块条件与确认记录只存本机</a:t>
            </a:r>
          </a:p>
          <a:p>
            <a:r>
              <a:rPr sz="1300">
                <a:solidFill>
                  <a:srgbClr val="1F2D27"/>
                </a:solidFill>
              </a:rPr>
              <a:t>·  175 秒演示视频：1080p，配音＋字幕</a:t>
            </a:r>
          </a:p>
          <a:p>
            <a:r>
              <a:rPr sz="1300">
                <a:solidFill>
                  <a:srgbClr val="1F2D27"/>
                </a:solidFill>
              </a:rPr>
              <a:t>·  在线体验见 02 页链接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AI 承担的具体任务：规则算得准，大模型讲得懂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① 确定性风险引擎（核心）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阈值 + 连续日数 + 物候期组合判断，逐日输出</a:t>
            </a:r>
          </a:p>
          <a:p>
            <a:r>
              <a:rPr sz="1500" b="0">
                <a:solidFill>
                  <a:srgbClr val="1F2D27"/>
                </a:solidFill>
              </a:rPr>
              <a:t>     等级与触发依据</a:t>
            </a:r>
          </a:p>
          <a:p>
            <a:r>
              <a:rPr sz="1500" b="0">
                <a:solidFill>
                  <a:srgbClr val="1F2D27"/>
                </a:solidFill>
              </a:rPr>
              <a:t>●  全部阈值显式可审计、可复算、可回测</a:t>
            </a:r>
          </a:p>
          <a:p>
            <a:r>
              <a:rPr sz="1500" b="0">
                <a:solidFill>
                  <a:srgbClr val="1F2D27"/>
                </a:solidFill>
              </a:rPr>
              <a:t>●  干旱为降水型 + 蒸散型双口径取高者</a:t>
            </a:r>
          </a:p>
          <a:p>
            <a:r>
              <a:rPr sz="1500" b="0">
                <a:solidFill>
                  <a:srgbClr val="1F2D27"/>
                </a:solidFill>
              </a:rPr>
              <a:t>     （ET0 参考蒸散，按物候期 2016–2020 定标，</a:t>
            </a:r>
          </a:p>
          <a:p>
            <a:r>
              <a:rPr sz="1500" b="0">
                <a:solidFill>
                  <a:srgbClr val="1F2D27"/>
                </a:solidFill>
              </a:rPr>
              <a:t>     单独出级封顶中、需降水佐证才到重）</a:t>
            </a:r>
          </a:p>
          <a:p>
            <a:r>
              <a:rPr sz="1500" b="0">
                <a:solidFill>
                  <a:srgbClr val="1F2D27"/>
                </a:solidFill>
              </a:rPr>
              <a:t>●  与 Python 实现逐日对拍：442 天 + 37 组边界</a:t>
            </a:r>
          </a:p>
          <a:p>
            <a:r>
              <a:rPr sz="1500" b="0">
                <a:solidFill>
                  <a:srgbClr val="1F2D27"/>
                </a:solidFill>
              </a:rPr>
              <a:t>     用例 + 阈值三方绑定 + 四类归因文案逐字符比对；</a:t>
            </a:r>
          </a:p>
          <a:p>
            <a:r>
              <a:rPr sz="1500" b="0">
                <a:solidFill>
                  <a:srgbClr val="1F2D27"/>
                </a:solidFill>
              </a:rPr>
              <a:t>     44 个注入变异全被四道闸门拦下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② DeepSeek 大模型解释层（可选接入）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●  以风险数据 + 农技规则库为上下文，生成个性化</a:t>
            </a:r>
          </a:p>
          <a:p>
            <a:r>
              <a:rPr sz="1600" b="0">
                <a:solidFill>
                  <a:srgbClr val="1F2D27"/>
                </a:solidFill>
              </a:rPr>
              <a:t>     建议与自然语言追问</a:t>
            </a:r>
          </a:p>
          <a:p>
            <a:r>
              <a:rPr sz="1600" b="0">
                <a:solidFill>
                  <a:srgbClr val="1F2D27"/>
                </a:solidFill>
              </a:rPr>
              <a:t>●  回答强制引用数据日期，抑制幻觉</a:t>
            </a:r>
          </a:p>
          <a:p>
            <a:r>
              <a:rPr sz="1600" b="0">
                <a:solidFill>
                  <a:srgbClr val="1F2D27"/>
                </a:solidFill>
              </a:rPr>
              <a:t>●  LLM 只做转译与解释，不做数值预测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6B7A72"/>
                </a:solidFill>
              </a:rPr>
              <a:t>为什么不是「为了 AI 而 AI」：没有大模型时产品依然完整可用；大模型解决的是「同一份数据对不同用户的不同表述 + 追问」这一具体负担。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验证：历史回测已通过，90 天试点已设计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554480"/>
            <a:ext cx="10972800" cy="2377440"/>
          </a:xfrm>
          <a:prstGeom prst="rect">
            <a:avLst/>
          </a:prstGeom>
          <a:solidFill>
            <a:srgbClr val="EFF6F1"/>
          </a:solidFill>
          <a:ln>
            <a:solidFill>
              <a:srgbClr val="1A7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2000" b="1">
                <a:solidFill>
                  <a:srgbClr val="0E5233"/>
                </a:solidFill>
              </a:rPr>
              <a:t>历史回测（2022 年热害 · 凉水河镇 · 真实数据）</a:t>
            </a:r>
          </a:p>
          <a:p>
            <a:r>
              <a:rPr sz="1500">
                <a:solidFill>
                  <a:srgbClr val="1F2D27"/>
                </a:solidFill>
              </a:rPr>
              <a:t>●  ≥35℃ 高温日 30 天    热害『重』级 13 天    极端最高 40.9℃（08-07）</a:t>
            </a:r>
          </a:p>
          <a:p>
            <a:r>
              <a:rPr sz="1500">
                <a:solidFill>
                  <a:srgbClr val="1F2D27"/>
                </a:solidFill>
              </a:rPr>
              <a:t>●  首个『重』级提示 2022-08-04（39.2℃）——比峰值提前 3 天；时效归因于单日 ≥39℃ 阈值，不记在连续升级头上</a:t>
            </a:r>
          </a:p>
          <a:p>
            <a:r>
              <a:rPr sz="1500">
                <a:solidFill>
                  <a:srgbClr val="1F2D27"/>
                </a:solidFill>
              </a:rPr>
              <a:t>●  干旱双口径同期『重』1 天／『中』55 天（重级需降水佐证），首个提示 2022-06-01（喂数带 35 天 warm-up，与产品一致）</a:t>
            </a:r>
          </a:p>
          <a:p>
            <a:r>
              <a:rPr sz="1500">
                <a:solidFill>
                  <a:srgbClr val="1F2D27"/>
                </a:solidFill>
              </a:rPr>
              <a:t>●  蒸散口径的增益点（逐日可复算）：2022-08 该周 4 天 def30 123–138mm 超膨大期 p99，其中 08-26 判『重』（当日雨30=29.9 使降水口径到中级、佐证成立），其余三天按佐证规则记『中』</a:t>
            </a:r>
          </a:p>
          <a:p>
            <a:r>
              <a:rPr sz="1500">
                <a:solidFill>
                  <a:srgbClr val="1F2D27"/>
                </a:solidFill>
              </a:rPr>
              <a:t>●  可离线复算：输入序列已冻结入库；对拍 + 边界用例 + 变异自证 + 材料一致性四道闸门全绿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F2D27"/>
                </a:solidFill>
              </a:rPr>
              <a:t>90 天试点计划：</a:t>
            </a:r>
          </a:p>
          <a:p>
            <a:r>
              <a:rPr sz="1400" b="0">
                <a:solidFill>
                  <a:srgbClr val="1F2D27"/>
                </a:solidFill>
              </a:rPr>
              <a:t>●  对象：库区 1—2 家合作社 / 乡镇农技员（30—100 亩），自费现场两次 + 微信回访（现金封顶 3400 元（补偿不能合规列支则降 2200））</a:t>
            </a:r>
          </a:p>
          <a:p>
            <a:r>
              <a:rPr sz="1400" b="0">
                <a:solidFill>
                  <a:srgbClr val="1F2D27"/>
                </a:solidFill>
              </a:rPr>
              <a:t>●  指标（n=2 户、13 周为例，全部写成分子/分母）：周活跃 ≥19/26 户·周｜越冬准备就绪率 ≥6/8</a:t>
            </a:r>
          </a:p>
          <a:p>
            <a:r>
              <a:rPr sz="1400" b="0">
                <a:solidFill>
                  <a:srgbClr val="1F2D27"/>
                </a:solidFill>
              </a:rPr>
              <a:t>        采纳率 ≥5/10（中重级提示不足 5 次则只报案例）｜满意度 2/2 户均 ≥4 分｜续用意愿 2/2</a:t>
            </a:r>
          </a:p>
          <a:p>
            <a:r>
              <a:rPr sz="1400" b="0">
                <a:solidFill>
                  <a:srgbClr val="1F2D27"/>
                </a:solidFill>
              </a:rPr>
              <a:t>●  判失败（事先写死）：周活跃 ≤14/26、或就绪 &lt;3/8、或任一户全程未打开 → 判未达核心目标</a:t>
            </a:r>
          </a:p>
          <a:p>
            <a:r>
              <a:rPr sz="1400" b="0">
                <a:solidFill>
                  <a:srgbClr val="1F2D27"/>
                </a:solidFill>
              </a:rPr>
              <a:t>●  前置：与合作社/农技中心签一页纸《试用与责任约定》（试点内部安排），外部性动作未确认不推送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可持续 · 开放 · 安全边界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可持续（12 个月，诚实选边）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全公益产品：永久免费、无付费墙、可自部署，不做任何商业化（含远期）</a:t>
            </a:r>
          </a:p>
          <a:p>
            <a:r>
              <a:rPr sz="1500" b="0">
                <a:solidFill>
                  <a:srgbClr val="1F2D27"/>
                </a:solidFill>
              </a:rPr>
              <a:t>●  定位：可自助复算的开源作品 + 移交包（不自称公共基础设施）</a:t>
            </a:r>
          </a:p>
          <a:p>
            <a:r>
              <a:rPr sz="1500" b="0">
                <a:solidFill>
                  <a:srgbClr val="1F2D27"/>
                </a:solidFill>
              </a:rPr>
              <a:t>●  资金：除一次性赛事奖金外无外部资金；全公益与</a:t>
            </a:r>
          </a:p>
          <a:p>
            <a:r>
              <a:rPr sz="1500" b="0">
                <a:solidFill>
                  <a:srgbClr val="1F2D27"/>
                </a:solidFill>
              </a:rPr>
              <a:t>     Open-Meteo 非商业数据许可永久自洽</a:t>
            </a:r>
          </a:p>
          <a:p>
            <a:r>
              <a:rPr sz="1500" b="0">
                <a:solidFill>
                  <a:srgbClr val="1F2D27"/>
                </a:solidFill>
              </a:rPr>
              <a:t>●  成本模型：纯静态零服务器成本；试点现金封顶 3400 元、</a:t>
            </a:r>
          </a:p>
          <a:p>
            <a:r>
              <a:rPr sz="1500" b="0">
                <a:solidFill>
                  <a:srgbClr val="1F2D27"/>
                </a:solidFill>
              </a:rPr>
              <a:t>     工时 85–95 小时，写有超支砍序与退出触发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扩展与单点风险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4884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同气候带柑橘产区＝弱复制（仍需当地校准）</a:t>
            </a:r>
          </a:p>
          <a:p>
            <a:r>
              <a:rPr sz="1500" b="0">
                <a:solidFill>
                  <a:srgbClr val="1F2D27"/>
                </a:solidFill>
              </a:rPr>
              <a:t>●  跨作物（茶园）＝强校准 5–15 人日／产区</a:t>
            </a:r>
          </a:p>
          <a:p>
            <a:r>
              <a:rPr sz="1500" b="0">
                <a:solidFill>
                  <a:srgbClr val="1F2D27"/>
                </a:solidFill>
              </a:rPr>
              <a:t>●  12 个月内只做丹江口一地</a:t>
            </a:r>
          </a:p>
          <a:p>
            <a:r>
              <a:rPr sz="1500" b="0">
                <a:solidFill>
                  <a:srgbClr val="1F2D27"/>
                </a:solidFill>
              </a:rPr>
              <a:t>●  bus factor＝1：暂无人承诺接手，故不自称</a:t>
            </a:r>
          </a:p>
          <a:p>
            <a:r>
              <a:rPr sz="1500" b="0">
                <a:solidFill>
                  <a:srgbClr val="1F2D27"/>
                </a:solidFill>
              </a:rPr>
              <a:t>     “可依赖的公共基础设施”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安全边界：风险等级用于辅助安排农事，不构成灾害预警，不替代官方气象预警与专业农技指导；再分析数据有不确定性，重要决策结合当地气象部门信息。</a:t>
            </a:r>
          </a:p>
          <a:p>
            <a:r>
              <a:rPr sz="1400" b="0">
                <a:solidFill>
                  <a:srgbClr val="C0392B"/>
                </a:solidFill>
              </a:rPr>
              <a:t>伦理：不采集个人身份信息；试点凭证（截图/照片）打码后本地留存，对外只给聚合统计，参与者可随时退出并要求删除。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不确定性写在前头（格点敏感性实测）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1F2D27"/>
                </a:solidFill>
              </a:rPr>
              <a:t>同一坐标取 4 个互不相同的格点：2022 年 122 天里有 54 天（44.3%）四类风险的最高等级不一致。格点再分析 ≠ 单园实测——这条实测写进材料，测试脚本已入库可复算。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已知不确定性与对应处置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ERA5-Land 约 9km 格点，与单园实测有偏差</a:t>
            </a:r>
          </a:p>
          <a:p>
            <a:r>
              <a:rPr sz="1500" b="0">
                <a:solidFill>
                  <a:srgbClr val="1F2D27"/>
                </a:solidFill>
              </a:rPr>
              <a:t>     → 试点逐园校准，判级标注格点口径</a:t>
            </a:r>
          </a:p>
          <a:p>
            <a:r>
              <a:rPr sz="1500" b="0">
                <a:solidFill>
                  <a:srgbClr val="1F2D27"/>
                </a:solidFill>
              </a:rPr>
              <a:t>●  7 天预报误差随天数增大</a:t>
            </a:r>
          </a:p>
          <a:p>
            <a:r>
              <a:rPr sz="1500" b="0">
                <a:solidFill>
                  <a:srgbClr val="1F2D27"/>
                </a:solidFill>
              </a:rPr>
              <a:t>     → 8 天外等级一律压为「关注」</a:t>
            </a:r>
          </a:p>
          <a:p>
            <a:r>
              <a:rPr sz="1500" b="0">
                <a:solidFill>
                  <a:srgbClr val="1F2D27"/>
                </a:solidFill>
              </a:rPr>
              <a:t>●  干旱阈值未与本地旱情对表</a:t>
            </a:r>
          </a:p>
          <a:p>
            <a:r>
              <a:rPr sz="1500" b="0">
                <a:solidFill>
                  <a:srgbClr val="1F2D27"/>
                </a:solidFill>
              </a:rPr>
              <a:t>     → 田间墒情对表列为试点必做记录项</a:t>
            </a:r>
          </a:p>
          <a:p>
            <a:r>
              <a:rPr sz="1500" b="0">
                <a:solidFill>
                  <a:srgbClr val="1F2D27"/>
                </a:solidFill>
              </a:rPr>
              <a:t>●  预报路径零回测</a:t>
            </a:r>
          </a:p>
          <a:p>
            <a:r>
              <a:rPr sz="1500" b="0">
                <a:solidFill>
                  <a:srgbClr val="1F2D27"/>
                </a:solidFill>
              </a:rPr>
              <a:t>     → 不宣称预报技巧，只做风险窗口提示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3108960"/>
            <a:ext cx="53035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已如实标注、绝不宣称：</a:t>
            </a:r>
          </a:p>
          <a:p>
            <a:r>
              <a:rPr sz="1500" b="0">
                <a:solidFill>
                  <a:srgbClr val="1F2D27"/>
                </a:solidFill>
              </a:rPr>
              <a:t>●  2022 回测是单事件、单格点，不外推为普遍准确率</a:t>
            </a:r>
          </a:p>
          <a:p>
            <a:r>
              <a:rPr sz="1500" b="0">
                <a:solidFill>
                  <a:srgbClr val="1F2D27"/>
                </a:solidFill>
              </a:rPr>
              <a:t>●  干旱「重」级判级能力是命名承诺最弱环</a:t>
            </a:r>
          </a:p>
          <a:p>
            <a:r>
              <a:rPr sz="1500" b="0">
                <a:solidFill>
                  <a:srgbClr val="1F2D27"/>
                </a:solidFill>
              </a:rPr>
              <a:t>●  无用户访谈、无减损/增收效果数据（试点回答）</a:t>
            </a:r>
          </a:p>
          <a:p>
            <a:r>
              <a:rPr sz="1500" b="0">
                <a:solidFill>
                  <a:srgbClr val="1F2D27"/>
                </a:solidFill>
              </a:rPr>
              <a:t>●  每条判级印规则版本号 + 定标/留出段，</a:t>
            </a:r>
          </a:p>
          <a:p>
            <a:r>
              <a:rPr sz="1500" b="0">
                <a:solidFill>
                  <a:srgbClr val="1F2D27"/>
                </a:solidFill>
              </a:rPr>
              <a:t>     截图可追溯到具体规则版本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处置原则：外部性动作一律 fail-closed（未确认不推送）；不在现场下指令；等级仅辅助安排农事。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传播与公众采用：把专业判级转译成能贴在墙上的话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① 看板：四类风险一屏读完</a:t>
            </a:r>
          </a:p>
        </p:txBody>
      </p:sp>
      <p:pic>
        <p:nvPicPr>
          <p:cNvPr id="8" name="Picture 7" descr="calend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984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43984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② 97 天日历：红橙黄蓝一格一天</a:t>
            </a:r>
          </a:p>
        </p:txBody>
      </p:sp>
      <p:pic>
        <p:nvPicPr>
          <p:cNvPr id="10" name="Picture 9" descr="advice-ex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645920"/>
            <a:ext cx="3310128" cy="1865376"/>
          </a:xfrm>
          <a:prstGeom prst="rect">
            <a:avLst/>
          </a:prstGeom>
          <a:ln w="12700">
            <a:solidFill>
              <a:srgbClr val="1A7A4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247888" y="3566160"/>
            <a:ext cx="331012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A72"/>
                </a:solidFill>
              </a:rPr>
              <a:t>③ 建议报告：可打印张贴到合作社公告栏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114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传播链路（已在线上跑通）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复杂气候信息 → 四级颜色 + 一句话触发依据</a:t>
            </a:r>
          </a:p>
          <a:p>
            <a:r>
              <a:rPr sz="1500" b="0">
                <a:solidFill>
                  <a:srgbClr val="1F2D27"/>
                </a:solidFill>
              </a:rPr>
              <a:t>●  报告/CSV 页面本地生成，不经过服务端</a:t>
            </a:r>
          </a:p>
          <a:p>
            <a:r>
              <a:rPr sz="1500" b="0">
                <a:solidFill>
                  <a:srgbClr val="1F2D27"/>
                </a:solidFill>
              </a:rPr>
              <a:t>●  竖排手机版式，农技员微信群直接转发</a:t>
            </a:r>
          </a:p>
          <a:p>
            <a:r>
              <a:rPr sz="1500" b="0">
                <a:solidFill>
                  <a:srgbClr val="1F2D27"/>
                </a:solidFill>
              </a:rPr>
              <a:t>●  小农户经节点间接受益：报告打印张贴即可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617720"/>
            <a:ext cx="5303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公众可验证性：</a:t>
            </a:r>
          </a:p>
          <a:p>
            <a:r>
              <a:rPr sz="1500" b="0">
                <a:solidFill>
                  <a:srgbClr val="1F2D27"/>
                </a:solidFill>
              </a:rPr>
              <a:t>●  三个历史回放场景现场就能点开</a:t>
            </a:r>
          </a:p>
          <a:p>
            <a:r>
              <a:rPr sz="1500" b="0">
                <a:solidFill>
                  <a:srgbClr val="1F2D27"/>
                </a:solidFill>
              </a:rPr>
              <a:t>●  输入序列冻结 + 代码开源，任何人离线复算</a:t>
            </a:r>
          </a:p>
          <a:p>
            <a:r>
              <a:rPr sz="1500" b="0">
                <a:solidFill>
                  <a:srgbClr val="1F2D27"/>
                </a:solidFill>
              </a:rPr>
              <a:t>●  175 秒演示片 + 开源仓库 + 作品帖三通道</a:t>
            </a:r>
          </a:p>
          <a:p>
            <a:r>
              <a:rPr sz="1500" b="0">
                <a:solidFill>
                  <a:srgbClr val="1F2D27"/>
                </a:solidFill>
              </a:rPr>
              <a:t>●  页面页脚印判级口径串，可追溯到规则版本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868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7A4A"/>
                </a:solidFill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75488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E5233"/>
                </a:solidFill>
              </a:rPr>
              <a:t>90 天试点：逐周节奏与判据（事先写死，不临场决定）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2011680" cy="54864"/>
          </a:xfrm>
          <a:prstGeom prst="rect">
            <a:avLst/>
          </a:prstGeom>
          <a:solidFill>
            <a:srgbClr val="1A7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逐周节奏（按柑橘农时）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第 1–2 周（11 月）：签约 · 装园块 · 记基线</a:t>
            </a:r>
          </a:p>
          <a:p>
            <a:r>
              <a:rPr sz="1500" b="0">
                <a:solidFill>
                  <a:srgbClr val="1F2D27"/>
                </a:solidFill>
              </a:rPr>
              <a:t>●  第 3–10 周：试用 · 周报 · 隔周阈值校准</a:t>
            </a:r>
          </a:p>
          <a:p>
            <a:r>
              <a:rPr sz="1500" b="0">
                <a:solidFill>
                  <a:srgbClr val="1F2D27"/>
                </a:solidFill>
              </a:rPr>
              <a:t>●  第 11–13 周（1 月）：回访 · 复盘 · 出报告</a:t>
            </a:r>
          </a:p>
          <a:p>
            <a:r>
              <a:rPr sz="1500" b="0">
                <a:solidFill>
                  <a:srgbClr val="1F2D27"/>
                </a:solidFill>
              </a:rPr>
              <a:t>●  覆盖两个风险过程：越冬冻害（11–12 月）</a:t>
            </a:r>
          </a:p>
          <a:p>
            <a:r>
              <a:rPr sz="1500" b="0">
                <a:solidFill>
                  <a:srgbClr val="1F2D27"/>
                </a:solidFill>
              </a:rPr>
              <a:t>     与倒春寒窗口（3–4 月，复盘后跟踪）</a:t>
            </a:r>
          </a:p>
          <a:p>
            <a:r>
              <a:rPr sz="1500" b="0">
                <a:solidFill>
                  <a:srgbClr val="1F2D27"/>
                </a:solidFill>
              </a:rPr>
              <a:t>●  每周五登记 LLM 用量截图（封顶 100 元，</a:t>
            </a:r>
          </a:p>
          <a:p>
            <a:r>
              <a:rPr sz="1500" b="0">
                <a:solidFill>
                  <a:srgbClr val="1F2D27"/>
                </a:solidFill>
              </a:rPr>
              <a:t>     累计 50 元触发砍序停用）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00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E5233"/>
                </a:solidFill>
              </a:rPr>
              <a:t>证据规则（防自证）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2D27"/>
                </a:solidFill>
              </a:rPr>
              <a:t>●  采纳率要有凭证：涂白照片/农资单据/灌水记录，</a:t>
            </a:r>
          </a:p>
          <a:p>
            <a:r>
              <a:rPr sz="1500" b="0">
                <a:solidFill>
                  <a:srgbClr val="1F2D27"/>
                </a:solidFill>
              </a:rPr>
              <a:t>     时效取两个具体日期</a:t>
            </a:r>
          </a:p>
          <a:p>
            <a:r>
              <a:rPr sz="1500" b="0">
                <a:solidFill>
                  <a:srgbClr val="1F2D27"/>
                </a:solidFill>
              </a:rPr>
              <a:t>●  n&lt;10 只报分子分母，不做比例宣传</a:t>
            </a:r>
          </a:p>
          <a:p>
            <a:r>
              <a:rPr sz="1500" b="0">
                <a:solidFill>
                  <a:srgbClr val="1F2D27"/>
                </a:solidFill>
              </a:rPr>
              <a:t>●  历史回放评估定性为「意向/演练」，</a:t>
            </a:r>
          </a:p>
          <a:p>
            <a:r>
              <a:rPr sz="1500" b="0">
                <a:solidFill>
                  <a:srgbClr val="1F2D27"/>
                </a:solidFill>
              </a:rPr>
              <a:t>     与真实采纳率分开呈现</a:t>
            </a:r>
          </a:p>
          <a:p>
            <a:r>
              <a:rPr sz="1500" b="0">
                <a:solidFill>
                  <a:srgbClr val="1F2D27"/>
                </a:solidFill>
              </a:rPr>
              <a:t>●  周活跃连续 6 周零活跃、确认回路零响应</a:t>
            </a:r>
          </a:p>
          <a:p>
            <a:r>
              <a:rPr sz="1500" b="0">
                <a:solidFill>
                  <a:srgbClr val="1F2D27"/>
                </a:solidFill>
              </a:rPr>
              <a:t>     → 退出触发，90 天停服横幅 + 归档</a:t>
            </a:r>
          </a:p>
          <a:p>
            <a:r>
              <a:rPr sz="1500" b="0">
                <a:solidFill>
                  <a:srgbClr val="1F2D27"/>
                </a:solidFill>
              </a:rPr>
              <a:t>●  「请求已发出且留痕、对方不签」才按</a:t>
            </a:r>
          </a:p>
          <a:p>
            <a:r>
              <a:rPr sz="1500" b="0">
                <a:solidFill>
                  <a:srgbClr val="1F2D27"/>
                </a:solidFill>
              </a:rPr>
              <a:t>     需求侧证据处理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212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C0392B"/>
                </a:solidFill>
              </a:rPr>
              <a:t>试点现金封顶 3400 元（误工补偿无法合规列支则自动降至 2200 元）+ 项目人工时 85–95 小时，全部写有超支砍序与退出触发；逐周台账落在 docs/04，复盘时公开。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</a:rPr>
              <a:t>沧浪舟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FE6D8"/>
                </a:solidFill>
              </a:rPr>
              <a:t>个人参赛 · 2026 年 10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把一个真实问题带来，让 AI 真正去解决它。</a:t>
            </a:r>
          </a:p>
          <a:p>
            <a:r>
              <a:rPr sz="2000" b="0">
                <a:solidFill>
                  <a:srgbClr val="FFFFFF"/>
                </a:solidFill>
              </a:rPr>
              <a:t>一个地方。一个气候问题。一个 AI 解决方案。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6D8"/>
                </a:solidFill>
              </a:rPr>
              <a:t>ai4climate.world ｜ pawnnwap.github.io/danju-zhihan ｜ deepseek.club/topic/5043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