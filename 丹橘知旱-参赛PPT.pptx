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1225296"/>
            <a:ext cx="603504" cy="548640"/>
          </a:xfrm>
          <a:prstGeom prst="ellipse">
            <a:avLst/>
          </a:prstGeom>
          <a:solidFill>
            <a:srgbClr val="F08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1288" y="1051560"/>
            <a:ext cx="173736" cy="173736"/>
          </a:xfrm>
          <a:prstGeom prst="ellipse">
            <a:avLst/>
          </a:prstGeom>
          <a:solidFill>
            <a:srgbClr val="26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4407408"/>
            <a:ext cx="1371600" cy="50292"/>
          </a:xfrm>
          <a:prstGeom prst="rect">
            <a:avLst/>
          </a:prstGeom>
          <a:solidFill>
            <a:srgbClr val="F08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FFFFF"/>
                </a:solidFill>
              </a:rPr>
              <a:t>丹橘知旱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FFFFFF"/>
                </a:solidFill>
              </a:rPr>
              <a:t>丹江口库区柑橘园气候决策助手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FE6D8"/>
                </a:solidFill>
              </a:rPr>
              <a:t>One Place · One Climate Problem · One AI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FE6D8"/>
                </a:solidFill>
              </a:rPr>
              <a:t>AI4Climate 全球青年气候解决方案挑战赛 · 团队 沧浪舟</a:t>
            </a:r>
          </a:p>
          <a:p>
            <a:r>
              <a:rPr sz="1400" b="0">
                <a:solidFill>
                  <a:srgbClr val="CFE6D8"/>
                </a:solidFill>
              </a:rPr>
              <a:t>开放选题 / 气候适应与韧性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E5233"/>
                </a:solidFill>
              </a:rPr>
              <a:t>真实气候问题：极端旱涝下的库区柑橘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F2D27"/>
                </a:solidFill>
              </a:rPr>
              <a:t>丹江口水库——南水北调中线核心水源区；库周 30 万亩柑橘、约 10 万果农。</a:t>
            </a:r>
          </a:p>
          <a:p>
            <a:r>
              <a:rPr sz="1900" b="0">
                <a:solidFill>
                  <a:srgbClr val="1F2D27"/>
                </a:solidFill>
              </a:rPr>
              <a:t>气候变化已让「靠天吃饭」的损失常态化：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D27"/>
                </a:solidFill>
              </a:rPr>
              <a:t>●  2022 年长江流域 1961 年来最强高温干旱：十堰竹山 44.6℃ 刷新湖北纪录；气象局首次派飞机在丹江口流域人工增雨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D27"/>
                </a:solidFill>
              </a:rPr>
              <a:t>●  参考园块（凉水河镇）当年夏季 ≥35℃ 达 30 天、极端最高 40.9℃（ERA5-Land 复算）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D27"/>
                </a:solidFill>
              </a:rPr>
              <a:t>●  文献记载（研究区为湖北武穴、非丹江口库区）：2008—2023 年 38 次气象灾害，</a:t>
            </a:r>
          </a:p>
          <a:p>
            <a:r>
              <a:rPr sz="1600" b="0">
                <a:solidFill>
                  <a:srgbClr val="1F2D27"/>
                </a:solidFill>
              </a:rPr>
              <a:t>     花期水分亏缺使落花率增加 32%-45%（DOI 10.12238/as.v8i8.3240）</a:t>
            </a:r>
          </a:p>
          <a:p>
            <a:r>
              <a:rPr sz="1600" b="0">
                <a:solidFill>
                  <a:srgbClr val="1F2D27"/>
                </a:solidFill>
              </a:rPr>
              <a:t>     ——只作为问题动机，不作为本工具的效果证据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D27"/>
                </a:solidFill>
              </a:rPr>
              <a:t>●  2025 年汉江 64 年来最密集秋汛、7 次编号洪水——旱涝急转成为新常态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5233"/>
                </a:solidFill>
              </a:rPr>
              <a:t>痛点：果农凭经验应对，缺少「我这块园 × 当前物候 × 未来几天」的决策提示，灾后补救远贵于灾前防范。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E5233"/>
                </a:solidFill>
              </a:rPr>
              <a:t>方案：从公开气象数据到可执行农事建议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06040" cy="2377440"/>
          </a:xfrm>
          <a:prstGeom prst="rect">
            <a:avLst/>
          </a:prstGeom>
          <a:solidFill>
            <a:srgbClr val="EFF6F1"/>
          </a:solidFill>
          <a:ln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900" b="1">
                <a:solidFill>
                  <a:srgbClr val="0E5233"/>
                </a:solidFill>
              </a:rPr>
              <a:t>公开气象数据</a:t>
            </a:r>
          </a:p>
          <a:p>
            <a:r>
              <a:rPr sz="1300">
                <a:solidFill>
                  <a:srgbClr val="1F2D27"/>
                </a:solidFill>
              </a:rPr>
              <a:t>Open-Meteo</a:t>
            </a:r>
            <a:br/>
            <a:r>
              <a:rPr sz="1300">
                <a:solidFill>
                  <a:srgbClr val="1F2D27"/>
                </a:solidFill>
              </a:rPr>
              <a:t>ERA5-Land 再分析</a:t>
            </a:r>
            <a:br/>
            <a:r>
              <a:rPr sz="1300">
                <a:solidFill>
                  <a:srgbClr val="1F2D27"/>
                </a:solidFill>
              </a:rPr>
              <a:t>+ ECMWF 预报</a:t>
            </a:r>
            <a:br/>
            <a:r>
              <a:rPr sz="1300">
                <a:solidFill>
                  <a:srgbClr val="1F2D27"/>
                </a:solidFill>
              </a:rPr>
              <a:t>（免密钥·浏览器直连）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39" y="2999232"/>
            <a:ext cx="201168" cy="4572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20439" y="1828800"/>
            <a:ext cx="2606040" cy="2377440"/>
          </a:xfrm>
          <a:prstGeom prst="rect">
            <a:avLst/>
          </a:prstGeom>
          <a:solidFill>
            <a:srgbClr val="EFF6F1"/>
          </a:solidFill>
          <a:ln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900" b="1">
                <a:solidFill>
                  <a:srgbClr val="0E5233"/>
                </a:solidFill>
              </a:rPr>
              <a:t>物候期识别</a:t>
            </a:r>
          </a:p>
          <a:p>
            <a:r>
              <a:rPr sz="1300">
                <a:solidFill>
                  <a:srgbClr val="1F2D27"/>
                </a:solidFill>
              </a:rPr>
              <a:t>萌芽/开花/幼果</a:t>
            </a:r>
            <a:br/>
            <a:r>
              <a:rPr sz="1300">
                <a:solidFill>
                  <a:srgbClr val="1F2D27"/>
                </a:solidFill>
              </a:rPr>
              <a:t>膨大/成熟/越冬</a:t>
            </a:r>
            <a:br/>
            <a:r>
              <a:rPr sz="1300">
                <a:solidFill>
                  <a:srgbClr val="1F2D27"/>
                </a:solidFill>
              </a:rPr>
              <a:t>六期规则表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999232"/>
            <a:ext cx="201168" cy="4572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2606040" cy="2377440"/>
          </a:xfrm>
          <a:prstGeom prst="rect">
            <a:avLst/>
          </a:prstGeom>
          <a:solidFill>
            <a:srgbClr val="EFF6F1"/>
          </a:solidFill>
          <a:ln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900" b="1">
                <a:solidFill>
                  <a:srgbClr val="0E5233"/>
                </a:solidFill>
              </a:rPr>
              <a:t>四类风险引擎</a:t>
            </a:r>
          </a:p>
          <a:p>
            <a:r>
              <a:rPr sz="1300">
                <a:solidFill>
                  <a:srgbClr val="1F2D27"/>
                </a:solidFill>
              </a:rPr>
              <a:t>高温热害 · 干旱</a:t>
            </a:r>
            <a:br/>
            <a:r>
              <a:rPr sz="1300">
                <a:solidFill>
                  <a:srgbClr val="1F2D27"/>
                </a:solidFill>
              </a:rPr>
              <a:t>花期低温 · 越冬冻害</a:t>
            </a:r>
            <a:br/>
            <a:r>
              <a:rPr sz="1300">
                <a:solidFill>
                  <a:srgbClr val="1F2D27"/>
                </a:solidFill>
              </a:rPr>
              <a:t>分级 + 触发依据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2999232"/>
            <a:ext cx="201168" cy="4572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81159" y="1828800"/>
            <a:ext cx="2606040" cy="2377440"/>
          </a:xfrm>
          <a:prstGeom prst="rect">
            <a:avLst/>
          </a:prstGeom>
          <a:solidFill>
            <a:srgbClr val="EFF6F1"/>
          </a:solidFill>
          <a:ln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900" b="1">
                <a:solidFill>
                  <a:srgbClr val="0E5233"/>
                </a:solidFill>
              </a:rPr>
              <a:t>农事建议</a:t>
            </a:r>
          </a:p>
          <a:p>
            <a:r>
              <a:rPr sz="1300">
                <a:solidFill>
                  <a:srgbClr val="1F2D27"/>
                </a:solidFill>
              </a:rPr>
              <a:t>风险 × 物候期</a:t>
            </a:r>
            <a:br/>
            <a:r>
              <a:rPr sz="1300">
                <a:solidFill>
                  <a:srgbClr val="1F2D27"/>
                </a:solidFill>
              </a:rPr>
              <a:t>动作清单</a:t>
            </a:r>
            <a:br/>
            <a:r>
              <a:rPr sz="1300">
                <a:solidFill>
                  <a:srgbClr val="1F2D27"/>
                </a:solidFill>
              </a:rPr>
              <a:t>标注规则来源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7A4A"/>
                </a:solidFill>
              </a:rPr>
              <a:t>在线体验：https://pawnnwap.github.io/danju-zhihan/      代码开源：https://github.com/Pawnnwap/danju-zhihan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2D27"/>
                </a:solidFill>
              </a:rPr>
              <a:t>手机浏览器打开即用：点选园块（或输入自定坐标）→ 当前物候与四类风险看板 → 90 天风险日历 → 农事建议 → 历史回放 → 问答。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E5233"/>
                </a:solidFill>
              </a:rPr>
              <a:t>产品界面：真实截图（与在线 Demo 同版）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3566160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72"/>
                </a:solidFill>
              </a:rPr>
              <a:t>① 风险看板：当前物候期 + 四类风险等级与触发依据</a:t>
            </a:r>
          </a:p>
        </p:txBody>
      </p:sp>
      <p:pic>
        <p:nvPicPr>
          <p:cNvPr id="8" name="Picture 7" descr="re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64592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443984" y="3566160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72"/>
                </a:solidFill>
              </a:rPr>
              <a:t>② 历史回放：2022 年夏季热害过程逐日重放</a:t>
            </a:r>
          </a:p>
        </p:txBody>
      </p:sp>
      <p:pic>
        <p:nvPicPr>
          <p:cNvPr id="10" name="Picture 9" descr="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64592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247888" y="3566160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72"/>
                </a:solidFill>
              </a:rPr>
              <a:t>③ 90 天风险日历（可导出 CSV，带 BOM，Excel 直开）</a:t>
            </a:r>
          </a:p>
        </p:txBody>
      </p:sp>
      <p:pic>
        <p:nvPicPr>
          <p:cNvPr id="12" name="Picture 11" descr="q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1480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0080" y="6035040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72"/>
                </a:solidFill>
              </a:rPr>
              <a:t>④ 问答：未配 Key 时由内置规则问答兜底</a:t>
            </a:r>
          </a:p>
        </p:txBody>
      </p:sp>
      <p:pic>
        <p:nvPicPr>
          <p:cNvPr id="14" name="Picture 13" descr="advice-ex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4114800"/>
            <a:ext cx="3310128" cy="1865376"/>
          </a:xfrm>
          <a:prstGeom prst="rect">
            <a:avLst/>
          </a:prstGeom>
          <a:ln w="12700">
            <a:solidFill>
              <a:srgbClr val="1A7A4A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443984" y="6035040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A72"/>
                </a:solidFill>
              </a:rPr>
              <a:t>⑤ 农事建议与导出报告（可打印张贴给农技员）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4114800"/>
            <a:ext cx="3310128" cy="1865376"/>
          </a:xfrm>
          <a:prstGeom prst="rect">
            <a:avLst/>
          </a:prstGeom>
          <a:solidFill>
            <a:srgbClr val="EFF6F1"/>
          </a:solidFill>
          <a:ln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0E5233"/>
                </a:solidFill>
              </a:rPr>
              <a:t>手机浏览器打开即用</a:t>
            </a:r>
          </a:p>
          <a:p>
            <a:r>
              <a:rPr sz="1300">
                <a:solidFill>
                  <a:srgbClr val="1F2D27"/>
                </a:solidFill>
              </a:rPr>
              <a:t>·  无安装、无账号、无后端</a:t>
            </a:r>
          </a:p>
          <a:p>
            <a:r>
              <a:rPr sz="1300">
                <a:solidFill>
                  <a:srgbClr val="1F2D27"/>
                </a:solidFill>
              </a:rPr>
              <a:t>·  园块条件与确认记录只存本机</a:t>
            </a:r>
          </a:p>
          <a:p>
            <a:r>
              <a:rPr sz="1300">
                <a:solidFill>
                  <a:srgbClr val="1F2D27"/>
                </a:solidFill>
              </a:rPr>
              <a:t>·  85 秒演示视频：1080p，配音＋字幕</a:t>
            </a:r>
          </a:p>
          <a:p>
            <a:r>
              <a:rPr sz="1300">
                <a:solidFill>
                  <a:srgbClr val="1F2D27"/>
                </a:solidFill>
              </a:rPr>
              <a:t>·  在线体验见 02 页链接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E5233"/>
                </a:solidFill>
              </a:rPr>
              <a:t>AI 承担的具体任务：规则算得准，大模型讲得懂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5233"/>
                </a:solidFill>
              </a:rPr>
              <a:t>① 确定性风险引擎（核心）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2D27"/>
                </a:solidFill>
              </a:rPr>
              <a:t>●  阈值 + 连续日数 + 物候期组合判断，逐日输出</a:t>
            </a:r>
          </a:p>
          <a:p>
            <a:r>
              <a:rPr sz="1500" b="0">
                <a:solidFill>
                  <a:srgbClr val="1F2D27"/>
                </a:solidFill>
              </a:rPr>
              <a:t>     等级与触发依据</a:t>
            </a:r>
          </a:p>
          <a:p>
            <a:r>
              <a:rPr sz="1500" b="0">
                <a:solidFill>
                  <a:srgbClr val="1F2D27"/>
                </a:solidFill>
              </a:rPr>
              <a:t>●  全部阈值显式可审计、可复算、可回测</a:t>
            </a:r>
          </a:p>
          <a:p>
            <a:r>
              <a:rPr sz="1500" b="0">
                <a:solidFill>
                  <a:srgbClr val="1F2D27"/>
                </a:solidFill>
              </a:rPr>
              <a:t>●  干旱为降水型 + 蒸散型双口径取高者</a:t>
            </a:r>
          </a:p>
          <a:p>
            <a:r>
              <a:rPr sz="1500" b="0">
                <a:solidFill>
                  <a:srgbClr val="1F2D27"/>
                </a:solidFill>
              </a:rPr>
              <a:t>     （ET0 参考蒸散，按物候期 2016–2020 定标，</a:t>
            </a:r>
          </a:p>
          <a:p>
            <a:r>
              <a:rPr sz="1500" b="0">
                <a:solidFill>
                  <a:srgbClr val="1F2D27"/>
                </a:solidFill>
              </a:rPr>
              <a:t>     单独出级封顶中、需降水佐证才到重）</a:t>
            </a:r>
          </a:p>
          <a:p>
            <a:r>
              <a:rPr sz="1500" b="0">
                <a:solidFill>
                  <a:srgbClr val="1F2D27"/>
                </a:solidFill>
              </a:rPr>
              <a:t>●  与 Python 实现逐日对拍：442 天 + 37 组边界</a:t>
            </a:r>
          </a:p>
          <a:p>
            <a:r>
              <a:rPr sz="1500" b="0">
                <a:solidFill>
                  <a:srgbClr val="1F2D27"/>
                </a:solidFill>
              </a:rPr>
              <a:t>     用例 + 阈值三方绑定 + 四类归因文案逐字符比对；</a:t>
            </a:r>
          </a:p>
          <a:p>
            <a:r>
              <a:rPr sz="1500" b="0">
                <a:solidFill>
                  <a:srgbClr val="1F2D27"/>
                </a:solidFill>
              </a:rPr>
              <a:t>     44 个注入变异全被四道闸门拦下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5233"/>
                </a:solidFill>
              </a:rPr>
              <a:t>② DeepSeek 大模型解释层（可选接入）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D27"/>
                </a:solidFill>
              </a:rPr>
              <a:t>●  以风险数据 + 农技规则库为上下文，生成个性化</a:t>
            </a:r>
          </a:p>
          <a:p>
            <a:r>
              <a:rPr sz="1600" b="0">
                <a:solidFill>
                  <a:srgbClr val="1F2D27"/>
                </a:solidFill>
              </a:rPr>
              <a:t>     建议与自然语言追问</a:t>
            </a:r>
          </a:p>
          <a:p>
            <a:r>
              <a:rPr sz="1600" b="0">
                <a:solidFill>
                  <a:srgbClr val="1F2D27"/>
                </a:solidFill>
              </a:rPr>
              <a:t>●  回答强制引用数据日期，抑制幻觉</a:t>
            </a:r>
          </a:p>
          <a:p>
            <a:r>
              <a:rPr sz="1600" b="0">
                <a:solidFill>
                  <a:srgbClr val="1F2D27"/>
                </a:solidFill>
              </a:rPr>
              <a:t>●  LLM 只做转译与解释，不做数值预测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B7A72"/>
                </a:solidFill>
              </a:rPr>
              <a:t>为什么不是「为了 AI 而 AI」：没有大模型时产品依然完整可用；大模型解决的是「同一份数据对不同用户的不同表述 + 追问」这一具体负担。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E5233"/>
                </a:solidFill>
              </a:rPr>
              <a:t>验证：历史回测已通过，90 天试点已设计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solidFill>
            <a:srgbClr val="EFF6F1"/>
          </a:solidFill>
          <a:ln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 b="1">
                <a:solidFill>
                  <a:srgbClr val="0E5233"/>
                </a:solidFill>
              </a:rPr>
              <a:t>历史回测（2022 年热害 · 凉水河镇 · 真实数据）</a:t>
            </a:r>
          </a:p>
          <a:p>
            <a:r>
              <a:rPr sz="1500">
                <a:solidFill>
                  <a:srgbClr val="1F2D27"/>
                </a:solidFill>
              </a:rPr>
              <a:t>●  ≥35℃ 高温日 30 天    热害『重』级 13 天    极端最高 40.9℃（08-07）</a:t>
            </a:r>
          </a:p>
          <a:p>
            <a:r>
              <a:rPr sz="1500">
                <a:solidFill>
                  <a:srgbClr val="1F2D27"/>
                </a:solidFill>
              </a:rPr>
              <a:t>●  首个『重』级提示 2022-08-04（39.2℃）——比峰值提前 3 天；时效归因于单日 ≥39℃ 阈值，不记在连续升级头上</a:t>
            </a:r>
          </a:p>
          <a:p>
            <a:r>
              <a:rPr sz="1500">
                <a:solidFill>
                  <a:srgbClr val="1F2D27"/>
                </a:solidFill>
              </a:rPr>
              <a:t>●  干旱双口径同期『重』1 天／『中』55 天（重级需降水佐证），首个提示 2022-06-01（喂数带 35 天 warm-up，与产品一致）</a:t>
            </a:r>
          </a:p>
          <a:p>
            <a:r>
              <a:rPr sz="1500">
                <a:solidFill>
                  <a:srgbClr val="1F2D27"/>
                </a:solidFill>
              </a:rPr>
              <a:t>●  蒸散口径的增益点（逐日可复算）：2022-08 该周 4 天 def30 123–138mm 超膨大期 p99，其中 08-26 判『重』（当日雨30=29.9 使降水口径到中级、佐证成立），其余三天按佐证规则记『中』</a:t>
            </a:r>
          </a:p>
          <a:p>
            <a:r>
              <a:rPr sz="1500">
                <a:solidFill>
                  <a:srgbClr val="1F2D27"/>
                </a:solidFill>
              </a:rPr>
              <a:t>●  可离线复算：输入序列已冻结入库；对拍 + 边界用例 + 变异自证 + 材料一致性四道闸门全绿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D27"/>
                </a:solidFill>
              </a:rPr>
              <a:t>90 天试点计划：</a:t>
            </a:r>
          </a:p>
          <a:p>
            <a:r>
              <a:rPr sz="1400" b="0">
                <a:solidFill>
                  <a:srgbClr val="1F2D27"/>
                </a:solidFill>
              </a:rPr>
              <a:t>●  对象：库区 1—2 家合作社 / 乡镇农技员（30—100 亩），自费现场两次 + 微信回访（现金封顶 3400 元（补偿不能合规列支则降 2200））</a:t>
            </a:r>
          </a:p>
          <a:p>
            <a:r>
              <a:rPr sz="1400" b="0">
                <a:solidFill>
                  <a:srgbClr val="1F2D27"/>
                </a:solidFill>
              </a:rPr>
              <a:t>●  指标（n=2 户、13 周为例，全部写成分子/分母）：周活跃 ≥19/26 户·周｜越冬准备就绪率 ≥6/8</a:t>
            </a:r>
          </a:p>
          <a:p>
            <a:r>
              <a:rPr sz="1400" b="0">
                <a:solidFill>
                  <a:srgbClr val="1F2D27"/>
                </a:solidFill>
              </a:rPr>
              <a:t>        采纳率 ≥5/10（中重级提示不足 5 次则只报案例）｜满意度 2/2 户均 ≥4 分｜续用意愿 2/2</a:t>
            </a:r>
          </a:p>
          <a:p>
            <a:r>
              <a:rPr sz="1400" b="0">
                <a:solidFill>
                  <a:srgbClr val="1F2D27"/>
                </a:solidFill>
              </a:rPr>
              <a:t>●  判失败（事先写死）：周活跃 ≤14/26、或就绪 &lt;3/8、或任一户全程未打开 → 判未达核心目标</a:t>
            </a:r>
          </a:p>
          <a:p>
            <a:r>
              <a:rPr sz="1400" b="0">
                <a:solidFill>
                  <a:srgbClr val="1F2D27"/>
                </a:solidFill>
              </a:rPr>
              <a:t>●  前置：与合作社/农技中心签一页纸《试用与责任约定》（试点内部安排），外部性动作未确认不推送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68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7A4A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7548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E5233"/>
                </a:solidFill>
              </a:rPr>
              <a:t>可持续 · 开放 · 安全边界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2011680" cy="5486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5233"/>
                </a:solidFill>
              </a:rPr>
              <a:t>可持续（12 个月，诚实选边）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2D27"/>
                </a:solidFill>
              </a:rPr>
              <a:t>●  12 个月内收入为 0（含单次劳务），赛道不追求收入</a:t>
            </a:r>
          </a:p>
          <a:p>
            <a:r>
              <a:rPr sz="1500" b="0">
                <a:solidFill>
                  <a:srgbClr val="1F2D27"/>
                </a:solidFill>
              </a:rPr>
              <a:t>●  定位：可自助复算的开源作品 + 移交包（不自称公共基础设施）</a:t>
            </a:r>
          </a:p>
          <a:p>
            <a:r>
              <a:rPr sz="1500" b="0">
                <a:solidFill>
                  <a:srgbClr val="1F2D27"/>
                </a:solidFill>
              </a:rPr>
              <a:t>●  渠道：按举证标准逐条核对，当前结论为“暂无已核验渠道”</a:t>
            </a:r>
          </a:p>
          <a:p>
            <a:r>
              <a:rPr sz="1500" b="0">
                <a:solidFill>
                  <a:srgbClr val="1F2D27"/>
                </a:solidFill>
              </a:rPr>
              <a:t>     （赛事奖金是唯一确定存在但一次性的来源）</a:t>
            </a:r>
          </a:p>
          <a:p>
            <a:r>
              <a:rPr sz="1500" b="0">
                <a:solidFill>
                  <a:srgbClr val="1F2D27"/>
                </a:solidFill>
              </a:rPr>
              <a:t>●  免费＝现有全部功能 + 无付费墙 + 可自部署；成本与工时封顶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E5233"/>
                </a:solidFill>
              </a:rPr>
              <a:t>扩展与单点风险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2D27"/>
                </a:solidFill>
              </a:rPr>
              <a:t>●  同气候带柑橘产区＝弱复制（仍需当地校准）</a:t>
            </a:r>
          </a:p>
          <a:p>
            <a:r>
              <a:rPr sz="1500" b="0">
                <a:solidFill>
                  <a:srgbClr val="1F2D27"/>
                </a:solidFill>
              </a:rPr>
              <a:t>●  跨作物（茶园）＝强校准 5–15 人日／产区</a:t>
            </a:r>
          </a:p>
          <a:p>
            <a:r>
              <a:rPr sz="1500" b="0">
                <a:solidFill>
                  <a:srgbClr val="1F2D27"/>
                </a:solidFill>
              </a:rPr>
              <a:t>●  12 个月内只做丹江口一地</a:t>
            </a:r>
          </a:p>
          <a:p>
            <a:r>
              <a:rPr sz="1500" b="0">
                <a:solidFill>
                  <a:srgbClr val="1F2D27"/>
                </a:solidFill>
              </a:rPr>
              <a:t>●  bus factor＝1：暂无人承诺接手，故不自称</a:t>
            </a:r>
          </a:p>
          <a:p>
            <a:r>
              <a:rPr sz="1500" b="0">
                <a:solidFill>
                  <a:srgbClr val="1F2D27"/>
                </a:solidFill>
              </a:rPr>
              <a:t>     “可依赖的公共基础设施”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0392B"/>
                </a:solidFill>
              </a:rPr>
              <a:t>安全边界：风险等级用于辅助安排农事，不构成灾害预警，不替代官方气象预警与专业农技指导；再分析数据有不确定性，重要决策结合当地气象部门信息。</a:t>
            </a:r>
          </a:p>
          <a:p>
            <a:r>
              <a:rPr sz="1400" b="0">
                <a:solidFill>
                  <a:srgbClr val="C0392B"/>
                </a:solidFill>
              </a:rPr>
              <a:t>伦理：不采集个人身份信息；试点凭证（截图/照片）打码后本地留存，对外只给聚合统计，参与者可随时退出并要求删除。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沧浪舟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FE6D8"/>
                </a:solidFill>
              </a:rPr>
              <a:t>个人参赛 · 2026 年 10 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</a:rPr>
              <a:t>把一个真实问题带来，让 AI 真正去解决它。</a:t>
            </a:r>
          </a:p>
          <a:p>
            <a:r>
              <a:rPr sz="2000" b="0">
                <a:solidFill>
                  <a:srgbClr val="FFFFFF"/>
                </a:solidFill>
              </a:rPr>
              <a:t>一个地方。一个气候问题。一个 AI 解决方案。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FE6D8"/>
                </a:solidFill>
              </a:rPr>
              <a:t>ai4climate.world ｜ pawnnwap.github.io/danju-zhihan ｜ deepseek.club/topic/5043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