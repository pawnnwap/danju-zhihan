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225296"/>
            <a:ext cx="603504" cy="548640"/>
          </a:xfrm>
          <a:prstGeom prst="ellipse">
            <a:avLst/>
          </a:prstGeom>
          <a:solidFill>
            <a:srgbClr val="F08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1288" y="1051560"/>
            <a:ext cx="173736" cy="173736"/>
          </a:xfrm>
          <a:prstGeom prst="ellipse">
            <a:avLst/>
          </a:prstGeom>
          <a:solidFill>
            <a:srgbClr val="26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4407408"/>
            <a:ext cx="1371600" cy="50292"/>
          </a:xfrm>
          <a:prstGeom prst="rect">
            <a:avLst/>
          </a:prstGeom>
          <a:solidFill>
            <a:srgbClr val="F08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FFFFFF"/>
                </a:solidFill>
              </a:rPr>
              <a:t>Danju Zhihan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FFFF"/>
                </a:solidFill>
              </a:rPr>
              <a:t>Tangerine Knows the Drought — a climate decision assistant for citrus growers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FE6D8"/>
                </a:solidFill>
              </a:rPr>
              <a:t>Danjiangkou Reservoir Area · South-North Water Transfer Middle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FE6D8"/>
                </a:solidFill>
              </a:rPr>
              <a:t>One Place · One Climate Problem · One AI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E6D8"/>
                </a:solidFill>
              </a:rPr>
              <a:t>AI4Climate Global Youth Climate Solutions Challenge · Team Canglangzhou</a:t>
            </a:r>
          </a:p>
          <a:p>
            <a:r>
              <a:rPr sz="1400" b="0">
                <a:solidFill>
                  <a:srgbClr val="CFE6D8"/>
                </a:solidFill>
              </a:rPr>
              <a:t>Open track / Climate adaptation &amp; resilience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104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5233"/>
                </a:solidFill>
              </a:rPr>
              <a:t>The Real Problem: Citrus Under Extreme Drought-Flood Swings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F2D27"/>
                </a:solidFill>
              </a:rPr>
              <a:t>Danjiangkou Reservoir — the core water source of the South-North Water Transfer (Middle Route);</a:t>
            </a:r>
          </a:p>
          <a:p>
            <a:r>
              <a:rPr sz="1700" b="0">
                <a:solidFill>
                  <a:srgbClr val="1F2D27"/>
                </a:solidFill>
              </a:rPr>
              <a:t>300,000 mu of citrus and ~100,000 growers along its banks. Weather-driven losses are now routine: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2D27"/>
                </a:solidFill>
              </a:rPr>
              <a:t>●  2022: the Yangtze basin's worst heat-drought since 1961 — 44.6℃ in Zhushan, Shiyan set a Hubei record;</a:t>
            </a:r>
          </a:p>
          <a:p>
            <a:r>
              <a:rPr sz="1500" b="0">
                <a:solidFill>
                  <a:srgbClr val="1F2D27"/>
                </a:solidFill>
              </a:rPr>
              <a:t>     weather authorities flew cloud-seeding aircraft over the Danjiangkou basin for the first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2D27"/>
                </a:solidFill>
              </a:rPr>
              <a:t>●  Reference orchard (Liangshuihe town): 30 days at ≥35℃ that summer, extreme high 40.9℃ (ERA5-Land recomputed)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2D27"/>
                </a:solidFill>
              </a:rPr>
              <a:t>●  Literature (study area is Wuxue, Hubei — not Danjiangkou): 38 weather disasters in 2008–2023;</a:t>
            </a:r>
          </a:p>
          <a:p>
            <a:r>
              <a:rPr sz="1500" b="0">
                <a:solidFill>
                  <a:srgbClr val="1F2D27"/>
                </a:solidFill>
              </a:rPr>
              <a:t>     flowering water deficit raised flower drop by 32–45% (DOI 10.12238/as.v8i8.3240)</a:t>
            </a:r>
          </a:p>
          <a:p>
            <a:r>
              <a:rPr sz="1500" b="0">
                <a:solidFill>
                  <a:srgbClr val="1F2D27"/>
                </a:solidFill>
              </a:rPr>
              <a:t>     — used only as problem motivation, never as evidence of this tool's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2D27"/>
                </a:solidFill>
              </a:rPr>
              <a:t>●  2025: the Hanjiang river's densest autumn flood season in 64 years, 7 numbered floods — drought-flood swings are the new 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5233"/>
                </a:solidFill>
              </a:rPr>
              <a:t>Pain point: growers improvise from experience, with no decision hint of "my orchard × current phenophase × next few days" — remediation after the fact costs far more than preparation before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104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5233"/>
                </a:solidFill>
              </a:rPr>
              <a:t>The Solution: From Open Weather Data to Actionable Advice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06040" cy="2377440"/>
          </a:xfrm>
          <a:prstGeom prst="rect">
            <a:avLst/>
          </a:prstGeom>
          <a:solidFill>
            <a:srgbClr val="EFF6F1"/>
          </a:solidFill>
          <a:ln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0E5233"/>
                </a:solidFill>
              </a:rPr>
              <a:t>Open weather data</a:t>
            </a:r>
          </a:p>
          <a:p>
            <a:r>
              <a:rPr sz="1200">
                <a:solidFill>
                  <a:srgbClr val="1F2D27"/>
                </a:solidFill>
              </a:rPr>
              <a:t>Open-Meteo</a:t>
            </a:r>
            <a:br/>
            <a:r>
              <a:rPr sz="1200">
                <a:solidFill>
                  <a:srgbClr val="1F2D27"/>
                </a:solidFill>
              </a:rPr>
              <a:t>ERA5-Land reanalysis</a:t>
            </a:r>
            <a:br/>
            <a:r>
              <a:rPr sz="1200">
                <a:solidFill>
                  <a:srgbClr val="1F2D27"/>
                </a:solidFill>
              </a:rPr>
              <a:t>+ ECMWF forecast</a:t>
            </a:r>
            <a:br/>
            <a:r>
              <a:rPr sz="1200">
                <a:solidFill>
                  <a:srgbClr val="1F2D27"/>
                </a:solidFill>
              </a:rPr>
              <a:t>(no key, browser-direct)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39" y="2999232"/>
            <a:ext cx="201168" cy="4572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20439" y="1828800"/>
            <a:ext cx="2606040" cy="2377440"/>
          </a:xfrm>
          <a:prstGeom prst="rect">
            <a:avLst/>
          </a:prstGeom>
          <a:solidFill>
            <a:srgbClr val="EFF6F1"/>
          </a:solidFill>
          <a:ln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0E5233"/>
                </a:solidFill>
              </a:rPr>
              <a:t>Phenophase ID</a:t>
            </a:r>
          </a:p>
          <a:p>
            <a:r>
              <a:rPr sz="1200">
                <a:solidFill>
                  <a:srgbClr val="1F2D27"/>
                </a:solidFill>
              </a:rPr>
              <a:t>budbreak / bloom /</a:t>
            </a:r>
            <a:br/>
            <a:r>
              <a:rPr sz="1200">
                <a:solidFill>
                  <a:srgbClr val="1F2D27"/>
                </a:solidFill>
              </a:rPr>
              <a:t>fruit set / swell /</a:t>
            </a:r>
            <a:br/>
            <a:r>
              <a:rPr sz="1200">
                <a:solidFill>
                  <a:srgbClr val="1F2D27"/>
                </a:solidFill>
              </a:rPr>
              <a:t>harvest / dormancy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999232"/>
            <a:ext cx="201168" cy="4572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2606040" cy="2377440"/>
          </a:xfrm>
          <a:prstGeom prst="rect">
            <a:avLst/>
          </a:prstGeom>
          <a:solidFill>
            <a:srgbClr val="EFF6F1"/>
          </a:solidFill>
          <a:ln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0E5233"/>
                </a:solidFill>
              </a:rPr>
              <a:t>Four-risk engine</a:t>
            </a:r>
          </a:p>
          <a:p>
            <a:r>
              <a:rPr sz="1200">
                <a:solidFill>
                  <a:srgbClr val="1F2D27"/>
                </a:solidFill>
              </a:rPr>
              <a:t>heat · drought</a:t>
            </a:r>
            <a:br/>
            <a:r>
              <a:rPr sz="1200">
                <a:solidFill>
                  <a:srgbClr val="1F2D27"/>
                </a:solidFill>
              </a:rPr>
              <a:t>low-temp bloom · winter</a:t>
            </a:r>
            <a:br/>
            <a:r>
              <a:rPr sz="1200">
                <a:solidFill>
                  <a:srgbClr val="1F2D27"/>
                </a:solidFill>
              </a:rPr>
              <a:t>levels + trigger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999232"/>
            <a:ext cx="201168" cy="4572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81159" y="1828800"/>
            <a:ext cx="2606040" cy="2377440"/>
          </a:xfrm>
          <a:prstGeom prst="rect">
            <a:avLst/>
          </a:prstGeom>
          <a:solidFill>
            <a:srgbClr val="EFF6F1"/>
          </a:solidFill>
          <a:ln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0E5233"/>
                </a:solidFill>
              </a:rPr>
              <a:t>Farm advice</a:t>
            </a:r>
          </a:p>
          <a:p>
            <a:r>
              <a:rPr sz="1200">
                <a:solidFill>
                  <a:srgbClr val="1F2D27"/>
                </a:solidFill>
              </a:rPr>
              <a:t>risk × phenophase</a:t>
            </a:r>
            <a:br/>
            <a:r>
              <a:rPr sz="1200">
                <a:solidFill>
                  <a:srgbClr val="1F2D27"/>
                </a:solidFill>
              </a:rPr>
              <a:t>action list</a:t>
            </a:r>
            <a:br/>
            <a:r>
              <a:rPr sz="1200">
                <a:solidFill>
                  <a:srgbClr val="1F2D27"/>
                </a:solidFill>
              </a:rPr>
              <a:t>rules sourced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7A4A"/>
                </a:solidFill>
              </a:rPr>
              <a:t>Live demo: https://pawnnwap.github.io/danju-zhihan/      Open source: https://github.com/Pawnnwap/danju-zhihan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D27"/>
                </a:solidFill>
              </a:rPr>
              <a:t>Works in any phone browser: pick an orchard block (or enter custom coordinates) → phenophase &amp; four-risk dashboard → 90-day risk calendar → farm advice → historical replay → Q&amp;A.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104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5233"/>
                </a:solidFill>
              </a:rPr>
              <a:t>Product UI: Real Screenshots (same build as the live demo)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3566160"/>
            <a:ext cx="3310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A72"/>
                </a:solidFill>
              </a:rPr>
              <a:t>① Dashboard: current phenophase + four risk levels &amp; trigger evidence</a:t>
            </a:r>
          </a:p>
        </p:txBody>
      </p:sp>
      <p:pic>
        <p:nvPicPr>
          <p:cNvPr id="8" name="Picture 7" descr="re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64592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443984" y="3566160"/>
            <a:ext cx="3310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A72"/>
                </a:solidFill>
              </a:rPr>
              <a:t>② Historical replay: day-by-day of the 2022 summer heat event</a:t>
            </a:r>
          </a:p>
        </p:txBody>
      </p:sp>
      <p:pic>
        <p:nvPicPr>
          <p:cNvPr id="10" name="Picture 9" descr="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64592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247888" y="3566160"/>
            <a:ext cx="3310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A72"/>
                </a:solidFill>
              </a:rPr>
              <a:t>③ 90-day risk calendar (CSV export, BOM, opens in Excel)</a:t>
            </a:r>
          </a:p>
        </p:txBody>
      </p:sp>
      <p:pic>
        <p:nvPicPr>
          <p:cNvPr id="12" name="Picture 11" descr="q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6052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0080" y="6080760"/>
            <a:ext cx="3310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A72"/>
                </a:solidFill>
              </a:rPr>
              <a:t>④ Q&amp;A: built-in rule-based answers when no LLM key is set</a:t>
            </a:r>
          </a:p>
        </p:txBody>
      </p:sp>
      <p:pic>
        <p:nvPicPr>
          <p:cNvPr id="14" name="Picture 13" descr="advice-ex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416052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443984" y="6080760"/>
            <a:ext cx="3310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A72"/>
                </a:solidFill>
              </a:rPr>
              <a:t>⑤ Advice &amp; exportable report (printable for technicians)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4160520"/>
            <a:ext cx="3310128" cy="1865376"/>
          </a:xfrm>
          <a:prstGeom prst="rect">
            <a:avLst/>
          </a:prstGeom>
          <a:solidFill>
            <a:srgbClr val="EFF6F1"/>
          </a:solidFill>
          <a:ln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500" b="1">
                <a:solidFill>
                  <a:srgbClr val="0E5233"/>
                </a:solidFill>
              </a:rPr>
              <a:t>Runs in any phone browser</a:t>
            </a:r>
          </a:p>
          <a:p>
            <a:r>
              <a:rPr sz="1100">
                <a:solidFill>
                  <a:srgbClr val="1F2D27"/>
                </a:solidFill>
              </a:rPr>
              <a:t>·  No install, no account, no backend</a:t>
            </a:r>
          </a:p>
          <a:p>
            <a:r>
              <a:rPr sz="1100">
                <a:solidFill>
                  <a:srgbClr val="1F2D27"/>
                </a:solidFill>
              </a:rPr>
              <a:t>·  Orchard conditions stay on-device</a:t>
            </a:r>
          </a:p>
          <a:p>
            <a:r>
              <a:rPr sz="1100">
                <a:solidFill>
                  <a:srgbClr val="1F2D27"/>
                </a:solidFill>
              </a:rPr>
              <a:t>·  175-second demo video, 1080p, VO + subtitles</a:t>
            </a:r>
          </a:p>
          <a:p>
            <a:r>
              <a:rPr sz="1100">
                <a:solidFill>
                  <a:srgbClr val="1F2D27"/>
                </a:solidFill>
              </a:rPr>
              <a:t>·  UI shown is Chinese; rules are open &amp; auditable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104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5233"/>
                </a:solidFill>
              </a:rPr>
              <a:t>AI's Specific Task: Rules Compute, LLM Explains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E5233"/>
                </a:solidFill>
              </a:rPr>
              <a:t>① Deterministic risk engine (core)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D27"/>
                </a:solidFill>
              </a:rPr>
              <a:t>●  Thresholds + consecutive days + phenophase, daily</a:t>
            </a:r>
          </a:p>
          <a:p>
            <a:r>
              <a:rPr sz="1300" b="0">
                <a:solidFill>
                  <a:srgbClr val="1F2D27"/>
                </a:solidFill>
              </a:rPr>
              <a:t>     level &amp; trigger evidence</a:t>
            </a:r>
          </a:p>
          <a:p>
            <a:r>
              <a:rPr sz="1300" b="0">
                <a:solidFill>
                  <a:srgbClr val="1F2D27"/>
                </a:solidFill>
              </a:rPr>
              <a:t>●  All thresholds explicit — auditable, reproducible, testable</a:t>
            </a:r>
          </a:p>
          <a:p>
            <a:r>
              <a:rPr sz="1300" b="0">
                <a:solidFill>
                  <a:srgbClr val="1F2D27"/>
                </a:solidFill>
              </a:rPr>
              <a:t>●  Drought: dual criteria take the higher — rainfall type +</a:t>
            </a:r>
          </a:p>
          <a:p>
            <a:r>
              <a:rPr sz="1300" b="0">
                <a:solidFill>
                  <a:srgbClr val="1F2D27"/>
                </a:solidFill>
              </a:rPr>
              <a:t>     ET0 type (calibrated on 2016–2020 by phenophase;</a:t>
            </a:r>
          </a:p>
          <a:p>
            <a:r>
              <a:rPr sz="1300" b="0">
                <a:solidFill>
                  <a:srgbClr val="1F2D27"/>
                </a:solidFill>
              </a:rPr>
              <a:t>     ET0 alone caps at mid, severe needs rainfall corroboration)</a:t>
            </a:r>
          </a:p>
          <a:p>
            <a:r>
              <a:rPr sz="1300" b="0">
                <a:solidFill>
                  <a:srgbClr val="1F2D27"/>
                </a:solidFill>
              </a:rPr>
              <a:t>●  Day-by-day parity vs the Python implementation: 442 days +</a:t>
            </a:r>
          </a:p>
          <a:p>
            <a:r>
              <a:rPr sz="1300" b="0">
                <a:solidFill>
                  <a:srgbClr val="1F2D27"/>
                </a:solidFill>
              </a:rPr>
              <a:t>     37 boundary cases + threshold binding + verbatim text match;</a:t>
            </a:r>
          </a:p>
          <a:p>
            <a:r>
              <a:rPr sz="1300" b="0">
                <a:solidFill>
                  <a:srgbClr val="1F2D27"/>
                </a:solidFill>
              </a:rPr>
              <a:t>     44 injected mutations all caught by the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E5233"/>
                </a:solidFill>
              </a:rPr>
              <a:t>② DeepSeek LLM explanation layer (optional)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D27"/>
                </a:solidFill>
              </a:rPr>
              <a:t>●  Risk data + rule library as context → personalized</a:t>
            </a:r>
          </a:p>
          <a:p>
            <a:r>
              <a:rPr sz="1300" b="0">
                <a:solidFill>
                  <a:srgbClr val="1F2D27"/>
                </a:solidFill>
              </a:rPr>
              <a:t>     advice &amp; natural-language follow-ups</a:t>
            </a:r>
          </a:p>
          <a:p>
            <a:r>
              <a:rPr sz="1300" b="0">
                <a:solidFill>
                  <a:srgbClr val="1F2D27"/>
                </a:solidFill>
              </a:rPr>
              <a:t>●  Answers must cite data dates — hallucination suppressed</a:t>
            </a:r>
          </a:p>
          <a:p>
            <a:r>
              <a:rPr sz="1300" b="0">
                <a:solidFill>
                  <a:srgbClr val="1F2D27"/>
                </a:solidFill>
              </a:rPr>
              <a:t>●  LLM only translates &amp; explains; it never predicts numbers</a:t>
            </a:r>
          </a:p>
          <a:p>
            <a:r>
              <a:rPr sz="1300" b="0">
                <a:solidFill>
                  <a:srgbClr val="1F2D27"/>
                </a:solidFill>
              </a:rPr>
              <a:t>●  No key? Falls back to built-in rule Q&amp;A —</a:t>
            </a:r>
          </a:p>
          <a:p>
            <a:r>
              <a:rPr sz="1300" b="0">
                <a:solidFill>
                  <a:srgbClr val="1F2D27"/>
                </a:solidFill>
              </a:rPr>
              <a:t>     the product stays complete without the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A72"/>
                </a:solidFill>
              </a:rPr>
              <a:t>Not "AI for AI's sake": the product works fully without the LLM; the model solves one concrete burden — the same data needs different wording for different users, plus follow-up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104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5233"/>
                </a:solidFill>
              </a:rPr>
              <a:t>Verification: Backtest Passed; 90-Day Pilot Designed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solidFill>
            <a:srgbClr val="EFF6F1"/>
          </a:solidFill>
          <a:ln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0E5233"/>
                </a:solidFill>
              </a:rPr>
              <a:t>Historical backtest (2022 heat event · Liangshuihe town · real data)</a:t>
            </a:r>
          </a:p>
          <a:p>
            <a:r>
              <a:rPr sz="1200">
                <a:solidFill>
                  <a:srgbClr val="1F2D27"/>
                </a:solidFill>
              </a:rPr>
              <a:t>●  30 days at ≥35℃    13 days at heat-severe    extreme high 40.9℃ (Aug 7)</a:t>
            </a:r>
          </a:p>
          <a:p>
            <a:r>
              <a:rPr sz="1200">
                <a:solidFill>
                  <a:srgbClr val="1F2D27"/>
                </a:solidFill>
              </a:rPr>
              <a:t>●  First severe-level alert Aug 4 (39.2℃) — 3 days ahead of the peak; timing attributed to the single-day ≥39℃ threshold, not the streak upgrade</a:t>
            </a:r>
          </a:p>
          <a:p>
            <a:r>
              <a:rPr sz="1200">
                <a:solidFill>
                  <a:srgbClr val="1F2D27"/>
                </a:solidFill>
              </a:rPr>
              <a:t>●  Drought dual-criteria same period: 1 severe / 55 mid (severe needs rainfall corroboration); first alert Jun 1 (35-day warm-up, same as the product)</a:t>
            </a:r>
          </a:p>
          <a:p>
            <a:r>
              <a:rPr sz="1200">
                <a:solidFill>
                  <a:srgbClr val="1F2D27"/>
                </a:solidFill>
              </a:rPr>
              <a:t>●  Where the ET0 criterion adds value (recomputable day-by-day): four days in Aug 2022 exceeded the swelling-phase p99 (123–138mm); Aug 26 scored severe (rain30=29.9 lifted rainfall to mid, corroboration holds), other three recorded mid</a:t>
            </a:r>
          </a:p>
          <a:p>
            <a:r>
              <a:rPr sz="1200">
                <a:solidFill>
                  <a:srgbClr val="1F2D27"/>
                </a:solidFill>
              </a:rPr>
              <a:t>●  Offline-recomputable: input series frozen in repo; parity + boundary + mutation + doc-consistency gates all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D27"/>
                </a:solidFill>
              </a:rPr>
              <a:t>90-day pilot plan:</a:t>
            </a:r>
          </a:p>
          <a:p>
            <a:r>
              <a:rPr sz="1300" b="0">
                <a:solidFill>
                  <a:srgbClr val="1F2D27"/>
                </a:solidFill>
              </a:rPr>
              <a:t>●  Who: 1–2 citrus cooperatives / township technicians (30–100 mu), two on-site visits + weekly check-ins (cash cap ¥3,400; drops to ¥2,200 if compensation cannot be legitimately paid)</a:t>
            </a:r>
          </a:p>
          <a:p>
            <a:r>
              <a:rPr sz="1300" b="0">
                <a:solidFill>
                  <a:srgbClr val="1F2D27"/>
                </a:solidFill>
              </a:rPr>
              <a:t>●  Metrics (n=2 households, 13 weeks, counts only): weekly-active ≥19/26 household-weeks | winter-readiness ≥6/8</a:t>
            </a:r>
          </a:p>
          <a:p>
            <a:r>
              <a:rPr sz="1300" b="0">
                <a:solidFill>
                  <a:srgbClr val="1F2D27"/>
                </a:solidFill>
              </a:rPr>
              <a:t>        adoption ≥5/10 (fewer than 5 mid/severe alerts → report cases only) | satisfaction 2/2 households avg ≥4 | continued use 2/2</a:t>
            </a:r>
          </a:p>
          <a:p>
            <a:r>
              <a:rPr sz="1300" b="0">
                <a:solidFill>
                  <a:srgbClr val="1F2D27"/>
                </a:solidFill>
              </a:rPr>
              <a:t>●  Failure (pre-registered): weekly-active ≤14/26, or readiness &lt;3/8, or any household never opens → core target missed</a:t>
            </a:r>
          </a:p>
          <a:p>
            <a:r>
              <a:rPr sz="1300" b="0">
                <a:solidFill>
                  <a:srgbClr val="1F2D27"/>
                </a:solidFill>
              </a:rPr>
              <a:t>●  Precondition: one-page pilot &amp; responsibility agreement with the cooperative (internal arrangement); unconfirmed external actions are never pushed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104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5233"/>
                </a:solidFill>
              </a:rPr>
              <a:t>Sustainability · Openness · Safety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E5233"/>
                </a:solidFill>
              </a:rPr>
              <a:t>Sustainability (next 12 months, honest choice)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D27"/>
                </a:solidFill>
              </a:rPr>
              <a:t>●  A public-good product: permanently free, no paywall,</a:t>
            </a:r>
          </a:p>
          <a:p>
            <a:r>
              <a:rPr sz="1300" b="0">
                <a:solidFill>
                  <a:srgbClr val="1F2D27"/>
                </a:solidFill>
              </a:rPr>
              <a:t>     self-hostable, no commercialization ever (including long term)</a:t>
            </a:r>
          </a:p>
          <a:p>
            <a:r>
              <a:rPr sz="1300" b="0">
                <a:solidFill>
                  <a:srgbClr val="1F2D27"/>
                </a:solidFill>
              </a:rPr>
              <a:t>●  Positioning: open, recomputable work + handover kit</a:t>
            </a:r>
          </a:p>
          <a:p>
            <a:r>
              <a:rPr sz="1300" b="0">
                <a:solidFill>
                  <a:srgbClr val="1F2D27"/>
                </a:solidFill>
              </a:rPr>
              <a:t>     (we do not claim "public infrastructure")</a:t>
            </a:r>
          </a:p>
          <a:p>
            <a:r>
              <a:rPr sz="1300" b="0">
                <a:solidFill>
                  <a:srgbClr val="1F2D27"/>
                </a:solidFill>
              </a:rPr>
              <a:t>●  Funding: no external funds beyond one-off prize money;</a:t>
            </a:r>
          </a:p>
          <a:p>
            <a:r>
              <a:rPr sz="1300" b="0">
                <a:solidFill>
                  <a:srgbClr val="1F2D27"/>
                </a:solidFill>
              </a:rPr>
              <a:t>     public-good stance is permanently consistent with the</a:t>
            </a:r>
          </a:p>
          <a:p>
            <a:r>
              <a:rPr sz="1300" b="0">
                <a:solidFill>
                  <a:srgbClr val="1F2D27"/>
                </a:solidFill>
              </a:rPr>
              <a:t>     Open-Meteo non-commercial license</a:t>
            </a:r>
          </a:p>
          <a:p>
            <a:r>
              <a:rPr sz="1300" b="0">
                <a:solidFill>
                  <a:srgbClr val="1F2D27"/>
                </a:solidFill>
              </a:rPr>
              <a:t>●  Cost model: zero-server static site; pilot cash capped at ¥3,400,</a:t>
            </a:r>
          </a:p>
          <a:p>
            <a:r>
              <a:rPr sz="1300" b="0">
                <a:solidFill>
                  <a:srgbClr val="1F2D27"/>
                </a:solidFill>
              </a:rPr>
              <a:t>     labor 85–95 h — overspending triggers &amp; exit triggers pre-written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E5233"/>
                </a:solidFill>
              </a:rPr>
              <a:t>Scaling &amp; single-point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D27"/>
                </a:solidFill>
              </a:rPr>
              <a:t>●  Same-climate citrus areas = weak transfer (still needs</a:t>
            </a:r>
          </a:p>
          <a:p>
            <a:r>
              <a:rPr sz="1300" b="0">
                <a:solidFill>
                  <a:srgbClr val="1F2D27"/>
                </a:solidFill>
              </a:rPr>
              <a:t>     local calibration)</a:t>
            </a:r>
          </a:p>
          <a:p>
            <a:r>
              <a:rPr sz="1300" b="0">
                <a:solidFill>
                  <a:srgbClr val="1F2D27"/>
                </a:solidFill>
              </a:rPr>
              <a:t>●  Cross-crop (e.g. tea) = strong calibration, 5–15 person-days/area</a:t>
            </a:r>
          </a:p>
          <a:p>
            <a:r>
              <a:rPr sz="1300" b="0">
                <a:solidFill>
                  <a:srgbClr val="1F2D27"/>
                </a:solidFill>
              </a:rPr>
              <a:t>●  Only Danjiangkou in the next 12 months</a:t>
            </a:r>
          </a:p>
          <a:p>
            <a:r>
              <a:rPr sz="1300" b="0">
                <a:solidFill>
                  <a:srgbClr val="1F2D27"/>
                </a:solidFill>
              </a:rPr>
              <a:t>●  Bus factor = 1: no successor committed yet, so we do not</a:t>
            </a:r>
          </a:p>
          <a:p>
            <a:r>
              <a:rPr sz="1300" b="0">
                <a:solidFill>
                  <a:srgbClr val="1F2D27"/>
                </a:solidFill>
              </a:rPr>
              <a:t>     call this " dependable public infrastructure"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0392B"/>
                </a:solidFill>
              </a:rPr>
              <a:t>Safety boundary: risk levels assist farm planning only — not disaster warnings, and no substitute for official meteorological warnings or professional guidance; reanalysis/forecast data carry uncertainty — combine with local weather authorities for major decisions.</a:t>
            </a:r>
          </a:p>
          <a:p>
            <a:r>
              <a:rPr sz="1300" b="0">
                <a:solidFill>
                  <a:srgbClr val="C0392B"/>
                </a:solidFill>
              </a:rPr>
              <a:t>Ethics: no personal identity collected; pilot evidence (screenshots/photos) is de-identified and stored locally; only aggregates published; participants may withdraw at any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104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5233"/>
                </a:solidFill>
              </a:rPr>
              <a:t>Uncertainty Stated Upfront (Grid Sensitivity Measured)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2D27"/>
                </a:solidFill>
              </a:rPr>
              <a:t>Same coordinates, four distinct grid cells: in 2022, 54 of 122 days (44.3%) disagreed on the highest of the four risk levels. A ~9km grid reanalysis is not an orchard measurement — this test ships in the repo, recomputable by anyone.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E5233"/>
                </a:solidFill>
              </a:rPr>
              <a:t>Known uncertainties &amp; how we handle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D27"/>
                </a:solidFill>
              </a:rPr>
              <a:t>●  ERA5-Land is a ~9km grid — biases vs on-orchard reality</a:t>
            </a:r>
          </a:p>
          <a:p>
            <a:r>
              <a:rPr sz="1300" b="0">
                <a:solidFill>
                  <a:srgbClr val="1F2D27"/>
                </a:solidFill>
              </a:rPr>
              <a:t>     → per-orchard calibration in the pilot; levels labeled with grid scope</a:t>
            </a:r>
          </a:p>
          <a:p>
            <a:r>
              <a:rPr sz="1300" b="0">
                <a:solidFill>
                  <a:srgbClr val="1F2D27"/>
                </a:solidFill>
              </a:rPr>
              <a:t>●  7-day forecast error grows with lead time</a:t>
            </a:r>
          </a:p>
          <a:p>
            <a:r>
              <a:rPr sz="1300" b="0">
                <a:solidFill>
                  <a:srgbClr val="1F2D27"/>
                </a:solidFill>
              </a:rPr>
              <a:t>     → beyond day 8, levels are capped at "watch"</a:t>
            </a:r>
          </a:p>
          <a:p>
            <a:r>
              <a:rPr sz="1300" b="0">
                <a:solidFill>
                  <a:srgbClr val="1F2D27"/>
                </a:solidFill>
              </a:rPr>
              <a:t>●  Drought thresholds not yet checked against local soil moisture</a:t>
            </a:r>
          </a:p>
          <a:p>
            <a:r>
              <a:rPr sz="1300" b="0">
                <a:solidFill>
                  <a:srgbClr val="1F2D27"/>
                </a:solidFill>
              </a:rPr>
              <a:t>     → field soil-moisture cross-check is a mandatory pilot record</a:t>
            </a:r>
          </a:p>
          <a:p>
            <a:r>
              <a:rPr sz="1300" b="0">
                <a:solidFill>
                  <a:srgbClr val="1F2D27"/>
                </a:solidFill>
              </a:rPr>
              <a:t>●  Forecast skill never backtested</a:t>
            </a:r>
          </a:p>
          <a:p>
            <a:r>
              <a:rPr sz="1300" b="0">
                <a:solidFill>
                  <a:srgbClr val="1F2D27"/>
                </a:solidFill>
              </a:rPr>
              <a:t>     → we claim no forecast skill, only risk-window hints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5468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D27"/>
                </a:solidFill>
              </a:rPr>
              <a:t>Honestly stated, never claimed:</a:t>
            </a:r>
          </a:p>
          <a:p>
            <a:r>
              <a:rPr sz="1300" b="0">
                <a:solidFill>
                  <a:srgbClr val="1F2D27"/>
                </a:solidFill>
              </a:rPr>
              <a:t>●  The 2022 backtest is one event at one grid point —</a:t>
            </a:r>
          </a:p>
          <a:p>
            <a:r>
              <a:rPr sz="1300" b="0">
                <a:solidFill>
                  <a:srgbClr val="1F2D27"/>
                </a:solidFill>
              </a:rPr>
              <a:t>     not a general accuracy rate</a:t>
            </a:r>
          </a:p>
          <a:p>
            <a:r>
              <a:rPr sz="1300" b="0">
                <a:solidFill>
                  <a:srgbClr val="1F2D27"/>
                </a:solidFill>
              </a:rPr>
              <a:t>●  Drought "severe" discrimination is the weakest named claim</a:t>
            </a:r>
          </a:p>
          <a:p>
            <a:r>
              <a:rPr sz="1300" b="0">
                <a:solidFill>
                  <a:srgbClr val="1F2D27"/>
                </a:solidFill>
              </a:rPr>
              <a:t>●  No user interviews yet; no loss-reduction data (pilot answers)</a:t>
            </a:r>
          </a:p>
          <a:p>
            <a:r>
              <a:rPr sz="1300" b="0">
                <a:solidFill>
                  <a:srgbClr val="1F2D27"/>
                </a:solidFill>
              </a:rPr>
              <a:t>●  Every level prints rule version + calibration/holdout years —</a:t>
            </a:r>
          </a:p>
          <a:p>
            <a:r>
              <a:rPr sz="1300" b="0">
                <a:solidFill>
                  <a:srgbClr val="1F2D27"/>
                </a:solidFill>
              </a:rPr>
              <a:t>     screenshots trace to a specific rule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0392B"/>
                </a:solidFill>
              </a:rPr>
              <a:t>Principle: external actions fail closed (never pushed without confirmation); no on-site commands; levels assist farm planning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104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5233"/>
                </a:solidFill>
              </a:rPr>
              <a:t>Communication: Turning Expert Levels Into Wall-Ready Advice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3566160"/>
            <a:ext cx="3310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A72"/>
                </a:solidFill>
              </a:rPr>
              <a:t>① Dashboard: four risks on one screen</a:t>
            </a:r>
          </a:p>
        </p:txBody>
      </p:sp>
      <p:pic>
        <p:nvPicPr>
          <p:cNvPr id="8" name="Picture 7" descr="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64592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443984" y="3566160"/>
            <a:ext cx="3310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A72"/>
                </a:solidFill>
              </a:rPr>
              <a:t>② 97-day calendar: one color-coded cell per day</a:t>
            </a:r>
          </a:p>
        </p:txBody>
      </p:sp>
      <p:pic>
        <p:nvPicPr>
          <p:cNvPr id="10" name="Picture 9" descr="advice-ex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64592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247888" y="3566160"/>
            <a:ext cx="3310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A72"/>
                </a:solidFill>
              </a:rPr>
              <a:t>③ Report: printable for the cooperative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E5233"/>
                </a:solidFill>
              </a:rPr>
              <a:t>Communication chain (already live)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D27"/>
                </a:solidFill>
              </a:rPr>
              <a:t>●  Complex climate info → four color levels + one-line trigger</a:t>
            </a:r>
          </a:p>
          <a:p>
            <a:r>
              <a:rPr sz="1300" b="0">
                <a:solidFill>
                  <a:srgbClr val="1F2D27"/>
                </a:solidFill>
              </a:rPr>
              <a:t>●  Report/CSV generated locally in the page — no server</a:t>
            </a:r>
          </a:p>
          <a:p>
            <a:r>
              <a:rPr sz="1300" b="0">
                <a:solidFill>
                  <a:srgbClr val="1F2D27"/>
                </a:solidFill>
              </a:rPr>
              <a:t>●  Portrait phone layout, shareable in technician WeChat groups</a:t>
            </a:r>
          </a:p>
          <a:p>
            <a:r>
              <a:rPr sz="1300" b="0">
                <a:solidFill>
                  <a:srgbClr val="1F2D27"/>
                </a:solidFill>
              </a:rPr>
              <a:t>●  Smallholders benefit via nodes: print &amp; post the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D27"/>
                </a:solidFill>
              </a:rPr>
              <a:t>Public verifiability:</a:t>
            </a:r>
          </a:p>
          <a:p>
            <a:r>
              <a:rPr sz="1300" b="0">
                <a:solidFill>
                  <a:srgbClr val="1F2D27"/>
                </a:solidFill>
              </a:rPr>
              <a:t>●  Three historical replay scenes, openable on the spot</a:t>
            </a:r>
          </a:p>
          <a:p>
            <a:r>
              <a:rPr sz="1300" b="0">
                <a:solidFill>
                  <a:srgbClr val="1F2D27"/>
                </a:solidFill>
              </a:rPr>
              <a:t>●  Frozen inputs + open code — anyone recomputes offline</a:t>
            </a:r>
          </a:p>
          <a:p>
            <a:r>
              <a:rPr sz="1300" b="0">
                <a:solidFill>
                  <a:srgbClr val="1F2D27"/>
                </a:solidFill>
              </a:rPr>
              <a:t>●  175-second video + open repo + community post</a:t>
            </a:r>
          </a:p>
          <a:p>
            <a:r>
              <a:rPr sz="1300" b="0">
                <a:solidFill>
                  <a:srgbClr val="1F2D27"/>
                </a:solidFill>
              </a:rPr>
              <a:t>●  Page footer prints the rule string — traceable to rule 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104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5233"/>
                </a:solidFill>
              </a:rPr>
              <a:t>90-Day Pilot: Weekly Rhythm &amp; Pre-Registered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E5233"/>
                </a:solidFill>
              </a:rPr>
              <a:t>Weekly rhythm (by citrus season)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486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D27"/>
                </a:solidFill>
              </a:rPr>
              <a:t>●  Weeks 1–2 (Nov): sign agreement · set blocks · record baseline</a:t>
            </a:r>
          </a:p>
          <a:p>
            <a:r>
              <a:rPr sz="1300" b="0">
                <a:solidFill>
                  <a:srgbClr val="1F2D27"/>
                </a:solidFill>
              </a:rPr>
              <a:t>●  Weeks 3–10: usage · weekly reports · biweekly threshold calibration</a:t>
            </a:r>
          </a:p>
          <a:p>
            <a:r>
              <a:rPr sz="1300" b="0">
                <a:solidFill>
                  <a:srgbClr val="1F2D27"/>
                </a:solidFill>
              </a:rPr>
              <a:t>●  Weeks 11–13 (Jan): revisit · review · final report</a:t>
            </a:r>
          </a:p>
          <a:p>
            <a:r>
              <a:rPr sz="1300" b="0">
                <a:solidFill>
                  <a:srgbClr val="1F2D27"/>
                </a:solidFill>
              </a:rPr>
              <a:t>●  Covers two risk processes: winter freeze (Nov–Dec) and</a:t>
            </a:r>
          </a:p>
          <a:p>
            <a:r>
              <a:rPr sz="1300" b="0">
                <a:solidFill>
                  <a:srgbClr val="1F2D27"/>
                </a:solidFill>
              </a:rPr>
              <a:t>     cold-snap window (Mar–Apr, tracked after the review)</a:t>
            </a:r>
          </a:p>
          <a:p>
            <a:r>
              <a:rPr sz="1300" b="0">
                <a:solidFill>
                  <a:srgbClr val="1F2D27"/>
                </a:solidFill>
              </a:rPr>
              <a:t>●  Every Friday: LLM usage screenshot logged (cap ¥100;</a:t>
            </a:r>
          </a:p>
          <a:p>
            <a:r>
              <a:rPr sz="1300" b="0">
                <a:solidFill>
                  <a:srgbClr val="1F2D27"/>
                </a:solidFill>
              </a:rPr>
              <a:t>     at ¥50 cumulative the kill-switch disables the key)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E5233"/>
                </a:solidFill>
              </a:rPr>
              <a:t>Evidence rules (anti-self-confirmation)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D27"/>
                </a:solidFill>
              </a:rPr>
              <a:t>●  Adoption needs evidence: whitewash photos / purchase receipts /</a:t>
            </a:r>
          </a:p>
          <a:p>
            <a:r>
              <a:rPr sz="1300" b="0">
                <a:solidFill>
                  <a:srgbClr val="1F2D27"/>
                </a:solidFill>
              </a:rPr>
              <a:t>     irrigation records; timing from two specific dates</a:t>
            </a:r>
          </a:p>
          <a:p>
            <a:r>
              <a:rPr sz="1300" b="0">
                <a:solidFill>
                  <a:srgbClr val="1F2D27"/>
                </a:solidFill>
              </a:rPr>
              <a:t>●  n&lt;10 → counts only, never percentage claims</a:t>
            </a:r>
          </a:p>
          <a:p>
            <a:r>
              <a:rPr sz="1300" b="0">
                <a:solidFill>
                  <a:srgbClr val="1F2D27"/>
                </a:solidFill>
              </a:rPr>
              <a:t>●  Replay-scene evaluation labeled "intent/rehearsal",</a:t>
            </a:r>
          </a:p>
          <a:p>
            <a:r>
              <a:rPr sz="1300" b="0">
                <a:solidFill>
                  <a:srgbClr val="1F2D27"/>
                </a:solidFill>
              </a:rPr>
              <a:t>     never merged with real adoption</a:t>
            </a:r>
          </a:p>
          <a:p>
            <a:r>
              <a:rPr sz="1300" b="0">
                <a:solidFill>
                  <a:srgbClr val="1F2D27"/>
                </a:solidFill>
              </a:rPr>
              <a:t>●  6 weeks zero activity or zero confirmation responses</a:t>
            </a:r>
          </a:p>
          <a:p>
            <a:r>
              <a:rPr sz="1300" b="0">
                <a:solidFill>
                  <a:srgbClr val="1F2D27"/>
                </a:solidFill>
              </a:rPr>
              <a:t>     → exit triggers: 90-day sunset banner + archive</a:t>
            </a:r>
          </a:p>
          <a:p>
            <a:r>
              <a:rPr sz="1300" b="0">
                <a:solidFill>
                  <a:srgbClr val="1F2D27"/>
                </a:solidFill>
              </a:rPr>
              <a:t>●  "Request sent with delivery proof, still unsigned" is the only</a:t>
            </a:r>
          </a:p>
          <a:p>
            <a:r>
              <a:rPr sz="1300" b="0">
                <a:solidFill>
                  <a:srgbClr val="1F2D27"/>
                </a:solidFill>
              </a:rPr>
              <a:t>     demand-side evidence that 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0392B"/>
                </a:solidFill>
              </a:rPr>
              <a:t>Pilot cash cap ¥3,400 (drops to ¥2,200 if compensation cannot be legitimately paid) + 85–95 project labor hours — all with pre-written overspending triggers and exit triggers; weekly ledger in docs/04, published at the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Canglangzhou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FE6D8"/>
                </a:solidFill>
              </a:rPr>
              <a:t>Solo entry ·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Bring a real problem; let AI actually solve it.</a:t>
            </a:r>
          </a:p>
          <a:p>
            <a:r>
              <a:rPr sz="2000" b="0">
                <a:solidFill>
                  <a:srgbClr val="FFFFFF"/>
                </a:solidFill>
              </a:rPr>
              <a:t>One place. One climate problem. One AI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FE6D8"/>
                </a:solidFill>
              </a:rPr>
              <a:t>ai4climate.world ｜ pawnnwap.github.io/danju-zhihan ｜ deepseek.club/topic/5043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